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37" r:id="rId1"/>
  </p:sldMasterIdLst>
  <p:notesMasterIdLst>
    <p:notesMasterId r:id="rId26"/>
  </p:notesMasterIdLst>
  <p:sldIdLst>
    <p:sldId id="282" r:id="rId2"/>
    <p:sldId id="277" r:id="rId3"/>
    <p:sldId id="258" r:id="rId4"/>
    <p:sldId id="259" r:id="rId5"/>
    <p:sldId id="290" r:id="rId6"/>
    <p:sldId id="286" r:id="rId7"/>
    <p:sldId id="260" r:id="rId8"/>
    <p:sldId id="261" r:id="rId9"/>
    <p:sldId id="273" r:id="rId10"/>
    <p:sldId id="262" r:id="rId11"/>
    <p:sldId id="285" r:id="rId12"/>
    <p:sldId id="266" r:id="rId13"/>
    <p:sldId id="297" r:id="rId14"/>
    <p:sldId id="287" r:id="rId15"/>
    <p:sldId id="289" r:id="rId16"/>
    <p:sldId id="292" r:id="rId17"/>
    <p:sldId id="293" r:id="rId18"/>
    <p:sldId id="299" r:id="rId19"/>
    <p:sldId id="294" r:id="rId20"/>
    <p:sldId id="298" r:id="rId21"/>
    <p:sldId id="271" r:id="rId22"/>
    <p:sldId id="274" r:id="rId23"/>
    <p:sldId id="272" r:id="rId24"/>
    <p:sldId id="27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426" autoAdjust="0"/>
    <p:restoredTop sz="94394" autoAdjust="0"/>
  </p:normalViewPr>
  <p:slideViewPr>
    <p:cSldViewPr snapToGrid="0">
      <p:cViewPr>
        <p:scale>
          <a:sx n="74" d="100"/>
          <a:sy n="74" d="100"/>
        </p:scale>
        <p:origin x="-64" y="152"/>
      </p:cViewPr>
      <p:guideLst>
        <p:guide orient="horz" pos="2160"/>
        <p:guide pos="3840"/>
      </p:guideLst>
    </p:cSldViewPr>
  </p:slideViewPr>
  <p:outlineViewPr>
    <p:cViewPr>
      <p:scale>
        <a:sx n="33" d="100"/>
        <a:sy n="33" d="100"/>
      </p:scale>
      <p:origin x="0" y="-7302"/>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A61C78-9717-4D4D-B1D3-C7EFBA392A44}" type="datetimeFigureOut">
              <a:rPr lang="en-IN" smtClean="0"/>
              <a:t>05-05-2024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EAF0F4-E850-4EF6-8AAE-23314ABCF613}" type="slidenum">
              <a:rPr lang="en-IN" smtClean="0"/>
              <a:t>‹#›</a:t>
            </a:fld>
            <a:endParaRPr lang="en-IN"/>
          </a:p>
        </p:txBody>
      </p:sp>
    </p:spTree>
    <p:extLst>
      <p:ext uri="{BB962C8B-B14F-4D97-AF65-F5344CB8AC3E}">
        <p14:creationId xmlns:p14="http://schemas.microsoft.com/office/powerpoint/2010/main" val="832929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05-May-24</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D57F1E4F-1CFF-5643-939E-217C01CDF565}" type="slidenum">
              <a:rPr lang="en-US" smtClean="0"/>
              <a:pPr/>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69087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smtClean="0"/>
              <a:pPr/>
              <a:t>05-May-24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76870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05-May-24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70654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smtClean="0"/>
              <a:pPr/>
              <a:t>05-May-24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42319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05-May-24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9265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05-May-24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1755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05-May-24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21093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05-May-24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7334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61BEF0D-F0BB-DE4B-95CE-6DB70DBA9567}" type="datetimeFigureOut">
              <a:rPr lang="en-US" smtClean="0"/>
              <a:pPr/>
              <a:t>05-May-24</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63869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05-May-24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93328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05-May-24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72407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B61BEF0D-F0BB-DE4B-95CE-6DB70DBA9567}" type="datetimeFigureOut">
              <a:rPr lang="en-US" smtClean="0"/>
              <a:pPr/>
              <a:t>05-May-24</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57F1E4F-1CFF-5643-939E-217C01CDF565}"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209855"/>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9100" y="2086377"/>
            <a:ext cx="8487176" cy="2794716"/>
          </a:xfrm>
          <a:effectLst>
            <a:outerShdw blurRad="50800" dist="38100" dir="16200000" rotWithShape="0">
              <a:prstClr val="black">
                <a:alpha val="40000"/>
              </a:prstClr>
            </a:outerShdw>
          </a:effectLst>
        </p:spPr>
        <p:txBody>
          <a:bodyPr>
            <a:noAutofit/>
          </a:bodyPr>
          <a:lstStyle/>
          <a:p>
            <a:r>
              <a:rPr lang="en-IN" sz="6000" dirty="0">
                <a:solidFill>
                  <a:schemeClr val="tx1"/>
                </a:solidFill>
                <a:latin typeface="Algerian" panose="04020705040A02060702" pitchFamily="82" charset="0"/>
              </a:rPr>
              <a:t/>
            </a:r>
            <a:br>
              <a:rPr lang="en-IN" sz="6000" dirty="0">
                <a:solidFill>
                  <a:schemeClr val="tx1"/>
                </a:solidFill>
                <a:latin typeface="Algerian" panose="04020705040A02060702" pitchFamily="82" charset="0"/>
              </a:rPr>
            </a:br>
            <a:r>
              <a:rPr lang="en-IN" sz="6000" dirty="0">
                <a:solidFill>
                  <a:schemeClr val="tx1"/>
                </a:solidFill>
                <a:latin typeface="Algerian" panose="04020705040A02060702" pitchFamily="82" charset="0"/>
              </a:rPr>
              <a:t/>
            </a:r>
            <a:br>
              <a:rPr lang="en-IN" sz="6000" dirty="0">
                <a:solidFill>
                  <a:schemeClr val="tx1"/>
                </a:solidFill>
                <a:latin typeface="Algerian" panose="04020705040A02060702" pitchFamily="82" charset="0"/>
              </a:rPr>
            </a:br>
            <a:r>
              <a:rPr lang="en-IN" sz="6000" dirty="0">
                <a:solidFill>
                  <a:schemeClr val="tx1"/>
                </a:solidFill>
                <a:latin typeface="Algerian" panose="04020705040A02060702" pitchFamily="82" charset="0"/>
              </a:rPr>
              <a:t/>
            </a:r>
            <a:br>
              <a:rPr lang="en-IN" sz="6000" dirty="0">
                <a:solidFill>
                  <a:schemeClr val="tx1"/>
                </a:solidFill>
                <a:latin typeface="Algerian" panose="04020705040A02060702" pitchFamily="82" charset="0"/>
              </a:rPr>
            </a:br>
            <a:r>
              <a:rPr lang="en-IN" sz="6000" dirty="0">
                <a:solidFill>
                  <a:schemeClr val="tx1"/>
                </a:solidFill>
                <a:latin typeface="Algerian" panose="04020705040A02060702" pitchFamily="82" charset="0"/>
              </a:rPr>
              <a:t/>
            </a:r>
            <a:br>
              <a:rPr lang="en-IN" sz="6000" dirty="0">
                <a:solidFill>
                  <a:schemeClr val="tx1"/>
                </a:solidFill>
                <a:latin typeface="Algerian" panose="04020705040A02060702" pitchFamily="82" charset="0"/>
              </a:rPr>
            </a:br>
            <a:r>
              <a:rPr lang="en-IN" sz="6000" dirty="0">
                <a:solidFill>
                  <a:schemeClr val="tx1"/>
                </a:solidFill>
                <a:latin typeface="Algerian" panose="04020705040A02060702" pitchFamily="82" charset="0"/>
              </a:rPr>
              <a:t/>
            </a:r>
            <a:br>
              <a:rPr lang="en-IN" sz="6000" dirty="0">
                <a:solidFill>
                  <a:schemeClr val="tx1"/>
                </a:solidFill>
                <a:latin typeface="Algerian" panose="04020705040A02060702" pitchFamily="82" charset="0"/>
              </a:rPr>
            </a:br>
            <a:r>
              <a:rPr lang="en-IN" sz="6000" dirty="0">
                <a:solidFill>
                  <a:schemeClr val="tx1"/>
                </a:solidFill>
                <a:latin typeface="Algerian" panose="04020705040A02060702" pitchFamily="82" charset="0"/>
              </a:rPr>
              <a:t/>
            </a:r>
            <a:br>
              <a:rPr lang="en-IN" sz="6000" dirty="0">
                <a:solidFill>
                  <a:schemeClr val="tx1"/>
                </a:solidFill>
                <a:latin typeface="Algerian" panose="04020705040A02060702" pitchFamily="82" charset="0"/>
              </a:rPr>
            </a:br>
            <a:r>
              <a:rPr lang="en-IN" sz="6000" dirty="0">
                <a:solidFill>
                  <a:schemeClr val="tx1"/>
                </a:solidFill>
                <a:latin typeface="Algerian" panose="04020705040A02060702" pitchFamily="82" charset="0"/>
              </a:rPr>
              <a:t/>
            </a:r>
            <a:br>
              <a:rPr lang="en-IN" sz="6000" dirty="0">
                <a:solidFill>
                  <a:schemeClr val="tx1"/>
                </a:solidFill>
                <a:latin typeface="Algerian" panose="04020705040A02060702" pitchFamily="82" charset="0"/>
              </a:rPr>
            </a:br>
            <a:r>
              <a:rPr lang="en-IN" sz="6000" dirty="0">
                <a:solidFill>
                  <a:schemeClr val="tx1"/>
                </a:solidFill>
                <a:latin typeface="Algerian" panose="04020705040A02060702" pitchFamily="82" charset="0"/>
              </a:rPr>
              <a:t/>
            </a:r>
            <a:br>
              <a:rPr lang="en-IN" sz="6000" dirty="0">
                <a:solidFill>
                  <a:schemeClr val="tx1"/>
                </a:solidFill>
                <a:latin typeface="Algerian" panose="04020705040A02060702" pitchFamily="82" charset="0"/>
              </a:rPr>
            </a:br>
            <a:r>
              <a:rPr lang="en-IN" sz="6000" dirty="0">
                <a:solidFill>
                  <a:schemeClr val="tx1"/>
                </a:solidFill>
                <a:latin typeface="Algerian" panose="04020705040A02060702" pitchFamily="82" charset="0"/>
              </a:rPr>
              <a:t/>
            </a:r>
            <a:br>
              <a:rPr lang="en-IN" sz="6000" dirty="0">
                <a:solidFill>
                  <a:schemeClr val="tx1"/>
                </a:solidFill>
                <a:latin typeface="Algerian" panose="04020705040A02060702" pitchFamily="82" charset="0"/>
              </a:rPr>
            </a:br>
            <a:r>
              <a:rPr lang="en-IN" sz="6000" dirty="0">
                <a:solidFill>
                  <a:schemeClr val="tx1"/>
                </a:solidFill>
                <a:latin typeface="Algerian" panose="04020705040A02060702" pitchFamily="82" charset="0"/>
              </a:rPr>
              <a:t>LOAN PRICE PREDICTION using machine learning</a:t>
            </a:r>
            <a:r>
              <a:rPr lang="en-IN" sz="6000" dirty="0">
                <a:solidFill>
                  <a:schemeClr val="accent1">
                    <a:lumMod val="75000"/>
                  </a:schemeClr>
                </a:solidFill>
                <a:latin typeface="Algerian" panose="04020705040A02060702" pitchFamily="82" charset="0"/>
              </a:rPr>
              <a:t/>
            </a:r>
            <a:br>
              <a:rPr lang="en-IN" sz="6000" dirty="0">
                <a:solidFill>
                  <a:schemeClr val="accent1">
                    <a:lumMod val="75000"/>
                  </a:schemeClr>
                </a:solidFill>
                <a:latin typeface="Algerian" panose="04020705040A02060702" pitchFamily="82" charset="0"/>
              </a:rPr>
            </a:br>
            <a:endParaRPr lang="en-IN" sz="6000" dirty="0">
              <a:solidFill>
                <a:schemeClr val="accent1">
                  <a:lumMod val="75000"/>
                </a:schemeClr>
              </a:solidFill>
              <a:latin typeface="Algerian" panose="04020705040A02060702" pitchFamily="82" charset="0"/>
            </a:endParaRPr>
          </a:p>
        </p:txBody>
      </p:sp>
    </p:spTree>
    <p:extLst>
      <p:ext uri="{BB962C8B-B14F-4D97-AF65-F5344CB8AC3E}">
        <p14:creationId xmlns:p14="http://schemas.microsoft.com/office/powerpoint/2010/main" val="3169397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7EB3D602-C1BB-EB20-01FF-AC2B9D4EA46E}"/>
              </a:ext>
            </a:extLst>
          </p:cNvPr>
          <p:cNvSpPr>
            <a:spLocks noGrp="1"/>
          </p:cNvSpPr>
          <p:nvPr>
            <p:ph type="title"/>
          </p:nvPr>
        </p:nvSpPr>
        <p:spPr>
          <a:xfrm>
            <a:off x="1262326" y="293770"/>
            <a:ext cx="8596668" cy="1725684"/>
          </a:xfrm>
        </p:spPr>
        <p:txBody>
          <a:bodyPr>
            <a:normAutofit fontScale="90000"/>
          </a:bodyPr>
          <a:lstStyle/>
          <a:p>
            <a:pPr algn="ctr"/>
            <a:r>
              <a:rPr lang="en-US" sz="3100" b="1" u="sng" dirty="0">
                <a:solidFill>
                  <a:schemeClr val="accent4">
                    <a:lumMod val="50000"/>
                  </a:schemeClr>
                </a:solidFill>
              </a:rPr>
              <a:t>5132 - Thirumalai Engineering College</a:t>
            </a:r>
            <a:br>
              <a:rPr lang="en-US" sz="3100" b="1" u="sng" dirty="0">
                <a:solidFill>
                  <a:schemeClr val="accent4">
                    <a:lumMod val="50000"/>
                  </a:schemeClr>
                </a:solidFill>
              </a:rPr>
            </a:br>
            <a:r>
              <a:rPr lang="en-US" sz="3100" b="1" u="sng" dirty="0">
                <a:solidFill>
                  <a:schemeClr val="accent4">
                    <a:lumMod val="50000"/>
                  </a:schemeClr>
                </a:solidFill>
              </a:rPr>
              <a:t>Kilambi, Kanchipuram.</a:t>
            </a:r>
            <a:br>
              <a:rPr lang="en-US" sz="3100" b="1" u="sng" dirty="0">
                <a:solidFill>
                  <a:schemeClr val="accent4">
                    <a:lumMod val="50000"/>
                  </a:schemeClr>
                </a:solidFill>
              </a:rPr>
            </a:br>
            <a:r>
              <a:rPr lang="en-US" sz="3100" b="1" u="sng" dirty="0">
                <a:solidFill>
                  <a:schemeClr val="accent4">
                    <a:lumMod val="50000"/>
                  </a:schemeClr>
                </a:solidFill>
              </a:rPr>
              <a:t>Department of Information Technology</a:t>
            </a:r>
            <a:r>
              <a:rPr lang="en-US" sz="2000" b="1" u="sng" dirty="0">
                <a:solidFill>
                  <a:schemeClr val="accent4">
                    <a:lumMod val="50000"/>
                  </a:schemeClr>
                </a:solidFill>
              </a:rPr>
              <a:t/>
            </a:r>
            <a:br>
              <a:rPr lang="en-US" sz="2000" b="1" u="sng" dirty="0">
                <a:solidFill>
                  <a:schemeClr val="accent4">
                    <a:lumMod val="50000"/>
                  </a:schemeClr>
                </a:solidFill>
              </a:rPr>
            </a:br>
            <a:r>
              <a:rPr lang="en-US" sz="2000" b="1" u="sng" dirty="0">
                <a:solidFill>
                  <a:schemeClr val="accent4">
                    <a:lumMod val="50000"/>
                  </a:schemeClr>
                </a:solidFill>
              </a:rPr>
              <a:t/>
            </a:r>
            <a:br>
              <a:rPr lang="en-US" sz="2000" b="1" u="sng" dirty="0">
                <a:solidFill>
                  <a:schemeClr val="accent4">
                    <a:lumMod val="50000"/>
                  </a:schemeClr>
                </a:solidFill>
              </a:rPr>
            </a:br>
            <a:r>
              <a:rPr lang="en-US" sz="3100" b="1" u="sng" dirty="0">
                <a:solidFill>
                  <a:schemeClr val="accent2"/>
                </a:solidFill>
              </a:rPr>
              <a:t>Team member</a:t>
            </a:r>
            <a:endParaRPr lang="en-US" sz="2000" b="1" u="sng" dirty="0">
              <a:solidFill>
                <a:schemeClr val="accent2"/>
              </a:solidFill>
            </a:endParaRPr>
          </a:p>
        </p:txBody>
      </p:sp>
      <p:sp>
        <p:nvSpPr>
          <p:cNvPr id="5" name="Text Placeholder 4">
            <a:extLst>
              <a:ext uri="{FF2B5EF4-FFF2-40B4-BE49-F238E27FC236}">
                <a16:creationId xmlns:a16="http://schemas.microsoft.com/office/drawing/2014/main" xmlns="" id="{8169A8C4-A144-C79C-12A1-343FC704F478}"/>
              </a:ext>
            </a:extLst>
          </p:cNvPr>
          <p:cNvSpPr>
            <a:spLocks noGrp="1"/>
          </p:cNvSpPr>
          <p:nvPr>
            <p:ph type="body" idx="1"/>
          </p:nvPr>
        </p:nvSpPr>
        <p:spPr>
          <a:xfrm>
            <a:off x="682580" y="2019549"/>
            <a:ext cx="5409763" cy="801943"/>
          </a:xfrm>
        </p:spPr>
        <p:txBody>
          <a:bodyPr/>
          <a:lstStyle/>
          <a:p>
            <a:r>
              <a:rPr lang="en-US" dirty="0"/>
              <a:t>          </a:t>
            </a:r>
            <a:r>
              <a:rPr lang="en-US" dirty="0">
                <a:solidFill>
                  <a:schemeClr val="tx1"/>
                </a:solidFill>
              </a:rPr>
              <a:t>Name</a:t>
            </a:r>
          </a:p>
        </p:txBody>
      </p:sp>
      <p:sp>
        <p:nvSpPr>
          <p:cNvPr id="6" name="Content Placeholder 5">
            <a:extLst>
              <a:ext uri="{FF2B5EF4-FFF2-40B4-BE49-F238E27FC236}">
                <a16:creationId xmlns:a16="http://schemas.microsoft.com/office/drawing/2014/main" xmlns="" id="{947ECD5B-08B9-79E9-8F9F-68F8B0919FC5}"/>
              </a:ext>
            </a:extLst>
          </p:cNvPr>
          <p:cNvSpPr>
            <a:spLocks noGrp="1"/>
          </p:cNvSpPr>
          <p:nvPr>
            <p:ph sz="half" idx="2"/>
          </p:nvPr>
        </p:nvSpPr>
        <p:spPr>
          <a:xfrm>
            <a:off x="902760" y="2737245"/>
            <a:ext cx="4185623" cy="1590326"/>
          </a:xfrm>
        </p:spPr>
        <p:txBody>
          <a:bodyPr>
            <a:normAutofit fontScale="70000" lnSpcReduction="20000"/>
          </a:bodyPr>
          <a:lstStyle/>
          <a:p>
            <a:r>
              <a:rPr lang="en-US" sz="2600" b="1" dirty="0"/>
              <a:t>V. VINITH</a:t>
            </a:r>
          </a:p>
          <a:p>
            <a:r>
              <a:rPr lang="en-US" sz="2600" b="1" dirty="0"/>
              <a:t>P. RAMESHKUMAR</a:t>
            </a:r>
          </a:p>
          <a:p>
            <a:r>
              <a:rPr lang="en-US" sz="2600" b="1" dirty="0"/>
              <a:t>I. SABARI</a:t>
            </a:r>
          </a:p>
          <a:p>
            <a:r>
              <a:rPr lang="en-US" sz="2600" b="1" dirty="0"/>
              <a:t>V. GOKUL</a:t>
            </a:r>
          </a:p>
          <a:p>
            <a:pPr marL="0" indent="0">
              <a:buNone/>
            </a:pPr>
            <a:endParaRPr lang="en-US" sz="2000" dirty="0"/>
          </a:p>
          <a:p>
            <a:endParaRPr lang="en-US" dirty="0"/>
          </a:p>
        </p:txBody>
      </p:sp>
      <p:sp>
        <p:nvSpPr>
          <p:cNvPr id="7" name="Text Placeholder 6">
            <a:extLst>
              <a:ext uri="{FF2B5EF4-FFF2-40B4-BE49-F238E27FC236}">
                <a16:creationId xmlns:a16="http://schemas.microsoft.com/office/drawing/2014/main" xmlns="" id="{306C1D59-A3B4-D038-111E-A0602AFE0618}"/>
              </a:ext>
            </a:extLst>
          </p:cNvPr>
          <p:cNvSpPr>
            <a:spLocks noGrp="1"/>
          </p:cNvSpPr>
          <p:nvPr>
            <p:ph type="body" sz="quarter" idx="3"/>
          </p:nvPr>
        </p:nvSpPr>
        <p:spPr>
          <a:xfrm>
            <a:off x="5486400" y="2023003"/>
            <a:ext cx="5571114" cy="802237"/>
          </a:xfrm>
        </p:spPr>
        <p:txBody>
          <a:bodyPr/>
          <a:lstStyle/>
          <a:p>
            <a:r>
              <a:rPr lang="en-US" dirty="0"/>
              <a:t>                 </a:t>
            </a:r>
            <a:r>
              <a:rPr lang="en-US" dirty="0">
                <a:solidFill>
                  <a:schemeClr val="tx1"/>
                </a:solidFill>
              </a:rPr>
              <a:t>Register Number</a:t>
            </a:r>
          </a:p>
        </p:txBody>
      </p:sp>
      <p:sp>
        <p:nvSpPr>
          <p:cNvPr id="8" name="Content Placeholder 7">
            <a:extLst>
              <a:ext uri="{FF2B5EF4-FFF2-40B4-BE49-F238E27FC236}">
                <a16:creationId xmlns:a16="http://schemas.microsoft.com/office/drawing/2014/main" xmlns="" id="{F95A3997-E577-35BD-6A14-8AC6164AA4B3}"/>
              </a:ext>
            </a:extLst>
          </p:cNvPr>
          <p:cNvSpPr>
            <a:spLocks noGrp="1"/>
          </p:cNvSpPr>
          <p:nvPr>
            <p:ph sz="quarter" idx="4"/>
          </p:nvPr>
        </p:nvSpPr>
        <p:spPr>
          <a:xfrm>
            <a:off x="4861368" y="2737245"/>
            <a:ext cx="5742942" cy="3581668"/>
          </a:xfrm>
        </p:spPr>
        <p:txBody>
          <a:bodyPr>
            <a:normAutofit fontScale="77500" lnSpcReduction="20000"/>
          </a:bodyPr>
          <a:lstStyle/>
          <a:p>
            <a:pPr algn="ctr"/>
            <a:r>
              <a:rPr lang="en-US" sz="2900" b="1" dirty="0">
                <a:solidFill>
                  <a:schemeClr val="tx1"/>
                </a:solidFill>
              </a:rPr>
              <a:t>513220104009</a:t>
            </a:r>
          </a:p>
          <a:p>
            <a:pPr algn="ctr"/>
            <a:r>
              <a:rPr lang="en-US" sz="2900" b="1" dirty="0">
                <a:solidFill>
                  <a:schemeClr val="tx1"/>
                </a:solidFill>
              </a:rPr>
              <a:t>513220104310</a:t>
            </a:r>
          </a:p>
          <a:p>
            <a:pPr algn="ctr"/>
            <a:r>
              <a:rPr lang="en-US" sz="2900" b="1" dirty="0">
                <a:solidFill>
                  <a:schemeClr val="tx1"/>
                </a:solidFill>
              </a:rPr>
              <a:t>513220104311</a:t>
            </a:r>
          </a:p>
          <a:p>
            <a:pPr algn="ctr"/>
            <a:r>
              <a:rPr lang="en-US" sz="2900" b="1" dirty="0">
                <a:solidFill>
                  <a:schemeClr val="tx1"/>
                </a:solidFill>
              </a:rPr>
              <a:t>513220104306</a:t>
            </a:r>
          </a:p>
          <a:p>
            <a:pPr algn="ctr"/>
            <a:endParaRPr lang="en-US" dirty="0"/>
          </a:p>
          <a:p>
            <a:pPr algn="ctr"/>
            <a:endParaRPr lang="en-US" dirty="0"/>
          </a:p>
          <a:p>
            <a:pPr marL="0" indent="0" algn="ctr">
              <a:buNone/>
            </a:pPr>
            <a:r>
              <a:rPr lang="en-US" sz="2800" b="1" dirty="0">
                <a:solidFill>
                  <a:srgbClr val="002060"/>
                </a:solidFill>
                <a:latin typeface="+mj-lt"/>
              </a:rPr>
              <a:t>COORDINATER</a:t>
            </a:r>
          </a:p>
          <a:p>
            <a:pPr marL="0" indent="0" algn="ctr">
              <a:buNone/>
            </a:pPr>
            <a:r>
              <a:rPr lang="en-US" sz="2800" b="1" dirty="0" smtClean="0">
                <a:solidFill>
                  <a:srgbClr val="002060"/>
                </a:solidFill>
                <a:latin typeface="+mj-lt"/>
              </a:rPr>
              <a:t>MRS.D.JAKULIN SHARMI </a:t>
            </a:r>
            <a:r>
              <a:rPr lang="en-US" sz="2800" b="1" dirty="0">
                <a:solidFill>
                  <a:srgbClr val="002060"/>
                </a:solidFill>
                <a:latin typeface="+mj-lt"/>
              </a:rPr>
              <a:t>ME.,</a:t>
            </a:r>
            <a:r>
              <a:rPr lang="en-US" sz="2800" b="1" dirty="0">
                <a:solidFill>
                  <a:srgbClr val="002060"/>
                </a:solidFill>
                <a:latin typeface="Lucida Calligraphy" panose="03010101010101010101" pitchFamily="66" charset="0"/>
              </a:rPr>
              <a:t> </a:t>
            </a:r>
          </a:p>
        </p:txBody>
      </p:sp>
      <p:pic>
        <p:nvPicPr>
          <p:cNvPr id="2050" name="Picture 2" descr="Anna University - Wikipedia">
            <a:extLst>
              <a:ext uri="{FF2B5EF4-FFF2-40B4-BE49-F238E27FC236}">
                <a16:creationId xmlns:a16="http://schemas.microsoft.com/office/drawing/2014/main" xmlns="" id="{66E303B7-0BFF-67C6-A481-1EA8034958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836" y="539087"/>
            <a:ext cx="1383316" cy="135410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Thirumalai Engineering College – The Right Place to Enrich Your Career">
            <a:extLst>
              <a:ext uri="{FF2B5EF4-FFF2-40B4-BE49-F238E27FC236}">
                <a16:creationId xmlns:a16="http://schemas.microsoft.com/office/drawing/2014/main" xmlns="" id="{EF75A34C-7E30-263F-0D6A-0F09BA2097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19762" y="539087"/>
            <a:ext cx="1662359" cy="1354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311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767" y="1100919"/>
            <a:ext cx="8596668" cy="356315"/>
          </a:xfrm>
        </p:spPr>
        <p:txBody>
          <a:bodyPr>
            <a:noAutofit/>
          </a:bodyPr>
          <a:lstStyle/>
          <a:p>
            <a:r>
              <a:rPr lang="en-US" sz="2800" dirty="0">
                <a:solidFill>
                  <a:schemeClr val="accent4">
                    <a:lumMod val="50000"/>
                  </a:schemeClr>
                </a:solidFill>
              </a:rPr>
              <a:t>INTRODUCTION</a:t>
            </a:r>
          </a:p>
        </p:txBody>
      </p:sp>
      <p:sp>
        <p:nvSpPr>
          <p:cNvPr id="3" name="Content Placeholder 2"/>
          <p:cNvSpPr>
            <a:spLocks noGrp="1"/>
          </p:cNvSpPr>
          <p:nvPr>
            <p:ph idx="1"/>
          </p:nvPr>
        </p:nvSpPr>
        <p:spPr>
          <a:xfrm>
            <a:off x="1086766" y="1725768"/>
            <a:ext cx="9615578" cy="4198513"/>
          </a:xfrm>
        </p:spPr>
        <p:txBody>
          <a:bodyPr>
            <a:noAutofit/>
          </a:bodyPr>
          <a:lstStyle/>
          <a:p>
            <a:pPr algn="just"/>
            <a:r>
              <a:rPr lang="en-GB" sz="2400" b="1" dirty="0"/>
              <a:t>Loans are the core business of banks. The main profit comes directly from the loan's interest. </a:t>
            </a:r>
          </a:p>
          <a:p>
            <a:pPr algn="just"/>
            <a:r>
              <a:rPr lang="en-GB" sz="2400" b="1" dirty="0"/>
              <a:t>The loan companies grant a loan after an intensive process of verification and validation. However, they still don't have assurance if the applicant can repay the loan with no difficulties.</a:t>
            </a:r>
          </a:p>
          <a:p>
            <a:pPr algn="just"/>
            <a:r>
              <a:rPr lang="en-GB" sz="2400" b="1" dirty="0"/>
              <a:t>We prepared model to predict the target variable. And made a User Interface / web application.</a:t>
            </a:r>
            <a:endParaRPr lang="en-US" sz="2400" b="1" dirty="0"/>
          </a:p>
        </p:txBody>
      </p:sp>
    </p:spTree>
    <p:extLst>
      <p:ext uri="{BB962C8B-B14F-4D97-AF65-F5344CB8AC3E}">
        <p14:creationId xmlns:p14="http://schemas.microsoft.com/office/powerpoint/2010/main" val="628582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5218" y="609600"/>
            <a:ext cx="8468784" cy="330558"/>
          </a:xfrm>
        </p:spPr>
        <p:txBody>
          <a:bodyPr>
            <a:noAutofit/>
          </a:bodyPr>
          <a:lstStyle/>
          <a:p>
            <a:r>
              <a:rPr lang="en-US" sz="2800" dirty="0">
                <a:solidFill>
                  <a:schemeClr val="accent3">
                    <a:lumMod val="50000"/>
                  </a:schemeClr>
                </a:solidFill>
              </a:rPr>
              <a:t>ABSTRACTION</a:t>
            </a:r>
          </a:p>
        </p:txBody>
      </p:sp>
      <p:sp>
        <p:nvSpPr>
          <p:cNvPr id="3" name="Content Placeholder 2"/>
          <p:cNvSpPr>
            <a:spLocks noGrp="1"/>
          </p:cNvSpPr>
          <p:nvPr>
            <p:ph idx="1"/>
          </p:nvPr>
        </p:nvSpPr>
        <p:spPr>
          <a:xfrm>
            <a:off x="909345" y="1828800"/>
            <a:ext cx="10295275" cy="4419600"/>
          </a:xfrm>
        </p:spPr>
        <p:txBody>
          <a:bodyPr>
            <a:normAutofit/>
          </a:bodyPr>
          <a:lstStyle/>
          <a:p>
            <a:pPr algn="just"/>
            <a:r>
              <a:rPr lang="en-GB" sz="2400" b="1" dirty="0"/>
              <a:t>The prediction of loan prices is a critical task in the financial industry, facilitating informed decision-making for lenders and borrowers alike. Traditional methods often rely heavily on historical data and manual assessments, leading to inefficiencies and inaccuracies.</a:t>
            </a:r>
          </a:p>
          <a:p>
            <a:pPr algn="just"/>
            <a:r>
              <a:rPr lang="en-GB" sz="2400" b="1" dirty="0"/>
              <a:t>In contrast, machine learning (ML) techniques offer a promising avenue for enhancing loan price prediction by leveraging complex relationships within vast datasets.</a:t>
            </a:r>
          </a:p>
          <a:p>
            <a:pPr algn="just"/>
            <a:r>
              <a:rPr lang="en-GB" sz="2400" b="1" dirty="0"/>
              <a:t>The findings provide valuable insights for financial institutions seeking to enhance their loan pricing strategies and mitigate risks effectively.</a:t>
            </a:r>
            <a:endParaRPr lang="en-US" sz="2400" b="1" dirty="0"/>
          </a:p>
        </p:txBody>
      </p:sp>
    </p:spTree>
    <p:extLst>
      <p:ext uri="{BB962C8B-B14F-4D97-AF65-F5344CB8AC3E}">
        <p14:creationId xmlns:p14="http://schemas.microsoft.com/office/powerpoint/2010/main" val="4188948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chemeClr val="accent3">
                    <a:lumMod val="50000"/>
                  </a:schemeClr>
                </a:solidFill>
              </a:rPr>
              <a:t>SCOPE</a:t>
            </a:r>
          </a:p>
        </p:txBody>
      </p:sp>
      <p:sp>
        <p:nvSpPr>
          <p:cNvPr id="3" name="Content Placeholder 2"/>
          <p:cNvSpPr>
            <a:spLocks noGrp="1"/>
          </p:cNvSpPr>
          <p:nvPr>
            <p:ph idx="1"/>
          </p:nvPr>
        </p:nvSpPr>
        <p:spPr>
          <a:xfrm>
            <a:off x="1201590" y="1767840"/>
            <a:ext cx="8596668" cy="4157472"/>
          </a:xfrm>
        </p:spPr>
        <p:txBody>
          <a:bodyPr>
            <a:normAutofit/>
          </a:bodyPr>
          <a:lstStyle/>
          <a:p>
            <a:r>
              <a:rPr lang="en-US" sz="2400" b="1" dirty="0"/>
              <a:t>Predictive the data</a:t>
            </a:r>
          </a:p>
          <a:p>
            <a:r>
              <a:rPr lang="en-US" sz="2400" b="1" dirty="0"/>
              <a:t>Real-time data monitoring</a:t>
            </a:r>
          </a:p>
          <a:p>
            <a:r>
              <a:rPr lang="en-US" sz="2400" b="1" dirty="0"/>
              <a:t>Customer segmentation</a:t>
            </a:r>
          </a:p>
          <a:p>
            <a:r>
              <a:rPr lang="en-US" sz="2400" b="1" dirty="0" err="1"/>
              <a:t>Fruad</a:t>
            </a:r>
            <a:r>
              <a:rPr lang="en-US" sz="2400" b="1" dirty="0"/>
              <a:t> detection</a:t>
            </a:r>
          </a:p>
          <a:p>
            <a:r>
              <a:rPr lang="en-US" sz="2400" b="1" dirty="0"/>
              <a:t>Market forecasting</a:t>
            </a:r>
          </a:p>
        </p:txBody>
      </p:sp>
    </p:spTree>
    <p:extLst>
      <p:ext uri="{BB962C8B-B14F-4D97-AF65-F5344CB8AC3E}">
        <p14:creationId xmlns:p14="http://schemas.microsoft.com/office/powerpoint/2010/main" val="53349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8CEB25-C312-27E8-7898-A1D2DBC44B3F}"/>
              </a:ext>
            </a:extLst>
          </p:cNvPr>
          <p:cNvSpPr>
            <a:spLocks noGrp="1"/>
          </p:cNvSpPr>
          <p:nvPr>
            <p:ph type="title"/>
          </p:nvPr>
        </p:nvSpPr>
        <p:spPr>
          <a:xfrm>
            <a:off x="677334" y="816636"/>
            <a:ext cx="8596668" cy="1113763"/>
          </a:xfrm>
        </p:spPr>
        <p:txBody>
          <a:bodyPr>
            <a:normAutofit/>
          </a:bodyPr>
          <a:lstStyle/>
          <a:p>
            <a:r>
              <a:rPr lang="en-IN" sz="2800" dirty="0">
                <a:solidFill>
                  <a:schemeClr val="accent3">
                    <a:lumMod val="50000"/>
                  </a:schemeClr>
                </a:solidFill>
              </a:rPr>
              <a:t>DATA SET</a:t>
            </a:r>
            <a:endParaRPr lang="en-US" sz="2800" dirty="0">
              <a:solidFill>
                <a:schemeClr val="accent3">
                  <a:lumMod val="50000"/>
                </a:schemeClr>
              </a:solidFill>
            </a:endParaRPr>
          </a:p>
        </p:txBody>
      </p:sp>
      <p:sp>
        <p:nvSpPr>
          <p:cNvPr id="3" name="Content Placeholder 2">
            <a:extLst>
              <a:ext uri="{FF2B5EF4-FFF2-40B4-BE49-F238E27FC236}">
                <a16:creationId xmlns:a16="http://schemas.microsoft.com/office/drawing/2014/main" xmlns="" id="{08110D2B-0927-8D41-7411-AFE9ACCAA8E9}"/>
              </a:ext>
            </a:extLst>
          </p:cNvPr>
          <p:cNvSpPr>
            <a:spLocks noGrp="1"/>
          </p:cNvSpPr>
          <p:nvPr>
            <p:ph idx="1"/>
          </p:nvPr>
        </p:nvSpPr>
        <p:spPr>
          <a:xfrm>
            <a:off x="677333" y="1930399"/>
            <a:ext cx="9844705" cy="4302976"/>
          </a:xfrm>
        </p:spPr>
        <p:txBody>
          <a:bodyPr>
            <a:normAutofit/>
          </a:bodyPr>
          <a:lstStyle/>
          <a:p>
            <a:pPr algn="just">
              <a:lnSpc>
                <a:spcPct val="150000"/>
              </a:lnSpc>
            </a:pPr>
            <a:r>
              <a:rPr lang="en-GB" sz="2400" b="1" dirty="0"/>
              <a:t>Finding a specific dataset tailored explicitly for loan price prediction can sometimes be challenging due to the sensitive nature of financial data. </a:t>
            </a:r>
          </a:p>
          <a:p>
            <a:pPr algn="just">
              <a:lnSpc>
                <a:spcPct val="150000"/>
              </a:lnSpc>
            </a:pPr>
            <a:r>
              <a:rPr lang="en-GB" sz="2400" b="1" dirty="0"/>
              <a:t>However, there are several publicly available datasets related to lending and credit risk assessment that you can use for building machine learning models to predict loan prices.</a:t>
            </a:r>
            <a:endParaRPr lang="en-US" sz="2400" b="1" dirty="0"/>
          </a:p>
        </p:txBody>
      </p:sp>
    </p:spTree>
    <p:extLst>
      <p:ext uri="{BB962C8B-B14F-4D97-AF65-F5344CB8AC3E}">
        <p14:creationId xmlns:p14="http://schemas.microsoft.com/office/powerpoint/2010/main" val="1350720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590" y="708660"/>
            <a:ext cx="8596668" cy="656501"/>
          </a:xfrm>
        </p:spPr>
        <p:txBody>
          <a:bodyPr>
            <a:normAutofit fontScale="90000"/>
          </a:bodyPr>
          <a:lstStyle/>
          <a:p>
            <a:r>
              <a:rPr lang="en-GB" sz="2800" dirty="0">
                <a:solidFill>
                  <a:schemeClr val="accent3">
                    <a:lumMod val="50000"/>
                  </a:schemeClr>
                </a:solidFill>
              </a:rPr>
              <a:t>Existing System</a:t>
            </a:r>
            <a:r>
              <a:rPr lang="en-GB" sz="2000" dirty="0"/>
              <a:t/>
            </a:r>
            <a:br>
              <a:rPr lang="en-GB" sz="2000" dirty="0"/>
            </a:br>
            <a:endParaRPr lang="en-US" sz="2000" dirty="0"/>
          </a:p>
        </p:txBody>
      </p:sp>
      <p:sp>
        <p:nvSpPr>
          <p:cNvPr id="3" name="Content Placeholder 2"/>
          <p:cNvSpPr>
            <a:spLocks noGrp="1"/>
          </p:cNvSpPr>
          <p:nvPr>
            <p:ph idx="1"/>
          </p:nvPr>
        </p:nvSpPr>
        <p:spPr>
          <a:xfrm>
            <a:off x="1056306" y="1854558"/>
            <a:ext cx="9942252" cy="4294782"/>
          </a:xfrm>
        </p:spPr>
        <p:txBody>
          <a:bodyPr>
            <a:normAutofit fontScale="85000" lnSpcReduction="10000"/>
          </a:bodyPr>
          <a:lstStyle/>
          <a:p>
            <a:pPr algn="just"/>
            <a:r>
              <a:rPr lang="en-GB" sz="2400" b="1" dirty="0"/>
              <a:t>As of  last update in January 2022, there are various existing systems and applications that leverage machine learning (ML) for loan price prediction in the financial industry. While I can't provide real-time information.</a:t>
            </a:r>
          </a:p>
          <a:p>
            <a:pPr algn="just"/>
            <a:r>
              <a:rPr lang="en-GB" sz="2400" b="1" dirty="0"/>
              <a:t>These existing systems typically leverage a combination of supervised learning, unsupervised learning, and reinforcement learning techniques to predict loan prices accurately. </a:t>
            </a:r>
          </a:p>
          <a:p>
            <a:pPr algn="just"/>
            <a:r>
              <a:rPr lang="en-GB" sz="2400" b="1" dirty="0"/>
              <a:t>They often require large datasets, sophisticated algorithms, and domain expertise to deliver reliable predictions and meet regulatory requirements. Additionally, ongoing model monitoring, validation, and refinement are essential to maintain model accuracy and effectiveness over time.</a:t>
            </a:r>
            <a:endParaRPr lang="en-US" sz="2400" b="1" dirty="0"/>
          </a:p>
        </p:txBody>
      </p:sp>
    </p:spTree>
    <p:extLst>
      <p:ext uri="{BB962C8B-B14F-4D97-AF65-F5344CB8AC3E}">
        <p14:creationId xmlns:p14="http://schemas.microsoft.com/office/powerpoint/2010/main" val="2572133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A12B21-8531-5A2B-AB2E-72327A6AB986}"/>
              </a:ext>
            </a:extLst>
          </p:cNvPr>
          <p:cNvSpPr>
            <a:spLocks noGrp="1"/>
          </p:cNvSpPr>
          <p:nvPr>
            <p:ph type="title"/>
          </p:nvPr>
        </p:nvSpPr>
        <p:spPr>
          <a:xfrm>
            <a:off x="677334" y="1004552"/>
            <a:ext cx="8596668" cy="925847"/>
          </a:xfrm>
        </p:spPr>
        <p:txBody>
          <a:bodyPr>
            <a:normAutofit/>
          </a:bodyPr>
          <a:lstStyle/>
          <a:p>
            <a:r>
              <a:rPr lang="en-GB" sz="2800" dirty="0">
                <a:solidFill>
                  <a:schemeClr val="accent3">
                    <a:lumMod val="50000"/>
                  </a:schemeClr>
                </a:solidFill>
              </a:rPr>
              <a:t>Proposed System</a:t>
            </a:r>
            <a:r>
              <a:rPr lang="en-GB" sz="2000" dirty="0"/>
              <a:t/>
            </a:r>
            <a:br>
              <a:rPr lang="en-GB" sz="2000" dirty="0"/>
            </a:br>
            <a:endParaRPr lang="en-US" sz="2000" dirty="0"/>
          </a:p>
        </p:txBody>
      </p:sp>
      <p:sp>
        <p:nvSpPr>
          <p:cNvPr id="3" name="Content Placeholder 2">
            <a:extLst>
              <a:ext uri="{FF2B5EF4-FFF2-40B4-BE49-F238E27FC236}">
                <a16:creationId xmlns:a16="http://schemas.microsoft.com/office/drawing/2014/main" xmlns="" id="{F20DAA10-BEFB-71E2-213A-2CFDB3C823EE}"/>
              </a:ext>
            </a:extLst>
          </p:cNvPr>
          <p:cNvSpPr>
            <a:spLocks noGrp="1"/>
          </p:cNvSpPr>
          <p:nvPr>
            <p:ph idx="1"/>
          </p:nvPr>
        </p:nvSpPr>
        <p:spPr>
          <a:xfrm>
            <a:off x="1068945" y="1700010"/>
            <a:ext cx="9362941" cy="4700789"/>
          </a:xfrm>
        </p:spPr>
        <p:txBody>
          <a:bodyPr>
            <a:normAutofit/>
          </a:bodyPr>
          <a:lstStyle/>
          <a:p>
            <a:endParaRPr lang="en-US" sz="2000" dirty="0"/>
          </a:p>
          <a:p>
            <a:r>
              <a:rPr lang="en-US" sz="2400" b="1" dirty="0"/>
              <a:t>To overcome the drawbacks of the existing system, the proposed system has been evolved. </a:t>
            </a:r>
          </a:p>
          <a:p>
            <a:r>
              <a:rPr lang="en-US" sz="2400" b="1" dirty="0"/>
              <a:t>Aggregate and Integration the diverse datasets, covering cases, loan  information.</a:t>
            </a:r>
          </a:p>
          <a:p>
            <a:r>
              <a:rPr lang="en-US" sz="2400" b="1" dirty="0"/>
              <a:t>These project more developed an interactive dynamic visualization dashboard.</a:t>
            </a:r>
          </a:p>
          <a:p>
            <a:r>
              <a:rPr lang="en-US" sz="2400" b="1" dirty="0"/>
              <a:t>The system provides with the best user interface. The efficient reports can be generated by using this proposed system.</a:t>
            </a:r>
          </a:p>
        </p:txBody>
      </p:sp>
    </p:spTree>
    <p:extLst>
      <p:ext uri="{BB962C8B-B14F-4D97-AF65-F5344CB8AC3E}">
        <p14:creationId xmlns:p14="http://schemas.microsoft.com/office/powerpoint/2010/main" val="1138487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71EB35-1251-1AF7-05D7-34556B2C2106}"/>
              </a:ext>
            </a:extLst>
          </p:cNvPr>
          <p:cNvSpPr>
            <a:spLocks noGrp="1"/>
          </p:cNvSpPr>
          <p:nvPr>
            <p:ph type="title"/>
          </p:nvPr>
        </p:nvSpPr>
        <p:spPr>
          <a:xfrm>
            <a:off x="677334" y="914400"/>
            <a:ext cx="8596668" cy="1016000"/>
          </a:xfrm>
        </p:spPr>
        <p:txBody>
          <a:bodyPr>
            <a:normAutofit/>
          </a:bodyPr>
          <a:lstStyle/>
          <a:p>
            <a:r>
              <a:rPr lang="en-US" sz="2800" dirty="0">
                <a:solidFill>
                  <a:schemeClr val="accent3">
                    <a:lumMod val="50000"/>
                  </a:schemeClr>
                </a:solidFill>
              </a:rPr>
              <a:t>System Requirements</a:t>
            </a:r>
          </a:p>
        </p:txBody>
      </p:sp>
      <p:sp>
        <p:nvSpPr>
          <p:cNvPr id="3" name="Content Placeholder 2">
            <a:extLst>
              <a:ext uri="{FF2B5EF4-FFF2-40B4-BE49-F238E27FC236}">
                <a16:creationId xmlns:a16="http://schemas.microsoft.com/office/drawing/2014/main" xmlns="" id="{3E260944-C6FD-0795-DA1C-AF4EC0E47EFF}"/>
              </a:ext>
            </a:extLst>
          </p:cNvPr>
          <p:cNvSpPr>
            <a:spLocks noGrp="1"/>
          </p:cNvSpPr>
          <p:nvPr>
            <p:ph idx="1"/>
          </p:nvPr>
        </p:nvSpPr>
        <p:spPr>
          <a:xfrm>
            <a:off x="1324447" y="1661375"/>
            <a:ext cx="8596668" cy="4391695"/>
          </a:xfrm>
        </p:spPr>
        <p:txBody>
          <a:bodyPr>
            <a:noAutofit/>
          </a:bodyPr>
          <a:lstStyle/>
          <a:p>
            <a:pPr marL="0" indent="0">
              <a:buNone/>
            </a:pPr>
            <a:r>
              <a:rPr lang="en-US" sz="2000" b="1" dirty="0"/>
              <a:t>                                    </a:t>
            </a:r>
            <a:r>
              <a:rPr lang="en-US" sz="2400" b="1" u="sng" dirty="0"/>
              <a:t>Hardware Requirements</a:t>
            </a:r>
          </a:p>
          <a:p>
            <a:pPr marL="0" indent="0" algn="ctr">
              <a:buNone/>
            </a:pPr>
            <a:r>
              <a:rPr lang="en-US" sz="2000" b="1" dirty="0"/>
              <a:t>   1.Minimum RAM: -4GB</a:t>
            </a:r>
          </a:p>
          <a:p>
            <a:pPr marL="0" indent="0" algn="ctr">
              <a:buNone/>
            </a:pPr>
            <a:r>
              <a:rPr lang="en-US" sz="2000" b="1" dirty="0"/>
              <a:t> 2.Hard Disk: -128 GB </a:t>
            </a:r>
          </a:p>
          <a:p>
            <a:pPr marL="0" indent="0" algn="ctr">
              <a:buNone/>
            </a:pPr>
            <a:r>
              <a:rPr lang="en-US" sz="2000" b="1" dirty="0"/>
              <a:t>                               3.Processor: -Intel Pentium 5 or higher.</a:t>
            </a:r>
          </a:p>
          <a:p>
            <a:pPr marL="0" indent="0">
              <a:buNone/>
            </a:pPr>
            <a:r>
              <a:rPr lang="en-US" sz="2000" b="1" dirty="0"/>
              <a:t>                                   </a:t>
            </a:r>
            <a:r>
              <a:rPr lang="en-US" sz="2400" b="1" u="sng" dirty="0"/>
              <a:t>Software Requirement</a:t>
            </a:r>
          </a:p>
          <a:p>
            <a:pPr marL="0" indent="0">
              <a:buNone/>
            </a:pPr>
            <a:r>
              <a:rPr lang="en-US" sz="2000" b="1" dirty="0"/>
              <a:t>                                            1. OS: windows </a:t>
            </a:r>
          </a:p>
          <a:p>
            <a:pPr marL="0" indent="0" algn="ctr">
              <a:buNone/>
            </a:pPr>
            <a:r>
              <a:rPr lang="en-US" sz="2000" b="1" dirty="0"/>
              <a:t>                              2. Python IDE: Python 2.7.x and above</a:t>
            </a:r>
          </a:p>
          <a:p>
            <a:pPr marL="0" indent="0" algn="ctr">
              <a:buNone/>
            </a:pPr>
            <a:r>
              <a:rPr lang="en-US" sz="2000" b="1" dirty="0"/>
              <a:t> 3.Jupyter Notebook</a:t>
            </a:r>
          </a:p>
          <a:p>
            <a:pPr marL="0" indent="0" algn="ctr">
              <a:buNone/>
            </a:pPr>
            <a:r>
              <a:rPr lang="en-US" sz="2000" b="1" dirty="0"/>
              <a:t>  </a:t>
            </a:r>
            <a:r>
              <a:rPr lang="en-US" sz="2000" b="1" dirty="0" smtClean="0"/>
              <a:t>4.Visual </a:t>
            </a:r>
            <a:r>
              <a:rPr lang="en-US" sz="2000" b="1" dirty="0"/>
              <a:t>Studio Code </a:t>
            </a:r>
          </a:p>
          <a:p>
            <a:pPr marL="0" indent="0" algn="ctr">
              <a:buNone/>
            </a:pPr>
            <a:r>
              <a:rPr lang="en-US" sz="2000" b="1" dirty="0"/>
              <a:t> 5. Language: Python</a:t>
            </a:r>
          </a:p>
        </p:txBody>
      </p:sp>
    </p:spTree>
    <p:extLst>
      <p:ext uri="{BB962C8B-B14F-4D97-AF65-F5344CB8AC3E}">
        <p14:creationId xmlns:p14="http://schemas.microsoft.com/office/powerpoint/2010/main" val="2077942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9F67FE-4179-EDFF-3F45-6EF0E4B10C88}"/>
              </a:ext>
            </a:extLst>
          </p:cNvPr>
          <p:cNvSpPr>
            <a:spLocks noGrp="1"/>
          </p:cNvSpPr>
          <p:nvPr>
            <p:ph type="title"/>
          </p:nvPr>
        </p:nvSpPr>
        <p:spPr/>
        <p:txBody>
          <a:bodyPr>
            <a:normAutofit/>
          </a:bodyPr>
          <a:lstStyle/>
          <a:p>
            <a:r>
              <a:rPr lang="en-US" sz="2800" dirty="0">
                <a:solidFill>
                  <a:schemeClr val="accent3">
                    <a:lumMod val="50000"/>
                  </a:schemeClr>
                </a:solidFill>
              </a:rPr>
              <a:t>Architecture</a:t>
            </a:r>
            <a:r>
              <a:rPr lang="en-US" sz="2000" dirty="0"/>
              <a:t/>
            </a:r>
            <a:br>
              <a:rPr lang="en-US" sz="2000" dirty="0"/>
            </a:br>
            <a:endParaRPr lang="en-US" sz="2000" dirty="0"/>
          </a:p>
        </p:txBody>
      </p:sp>
      <p:pic>
        <p:nvPicPr>
          <p:cNvPr id="6" name="Content Placeholder 5">
            <a:extLst>
              <a:ext uri="{FF2B5EF4-FFF2-40B4-BE49-F238E27FC236}">
                <a16:creationId xmlns:a16="http://schemas.microsoft.com/office/drawing/2014/main" xmlns="" id="{523F2479-84F7-EB06-D7B7-8D133679591E}"/>
              </a:ext>
            </a:extLst>
          </p:cNvPr>
          <p:cNvPicPr>
            <a:picLocks noGrp="1" noChangeAspect="1"/>
          </p:cNvPicPr>
          <p:nvPr>
            <p:ph idx="1"/>
          </p:nvPr>
        </p:nvPicPr>
        <p:blipFill>
          <a:blip r:embed="rId2"/>
          <a:stretch>
            <a:fillRect/>
          </a:stretch>
        </p:blipFill>
        <p:spPr>
          <a:xfrm>
            <a:off x="1551885" y="1944709"/>
            <a:ext cx="8789850" cy="4456090"/>
          </a:xfrm>
        </p:spPr>
      </p:pic>
    </p:spTree>
    <p:extLst>
      <p:ext uri="{BB962C8B-B14F-4D97-AF65-F5344CB8AC3E}">
        <p14:creationId xmlns:p14="http://schemas.microsoft.com/office/powerpoint/2010/main" val="2033339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6B8883-3773-94C4-95DF-6608F022BA43}"/>
              </a:ext>
            </a:extLst>
          </p:cNvPr>
          <p:cNvSpPr>
            <a:spLocks noGrp="1"/>
          </p:cNvSpPr>
          <p:nvPr>
            <p:ph type="title"/>
          </p:nvPr>
        </p:nvSpPr>
        <p:spPr>
          <a:xfrm>
            <a:off x="677334" y="816638"/>
            <a:ext cx="8596668" cy="1113762"/>
          </a:xfrm>
        </p:spPr>
        <p:txBody>
          <a:bodyPr>
            <a:normAutofit/>
          </a:bodyPr>
          <a:lstStyle/>
          <a:p>
            <a:r>
              <a:rPr lang="en-IN" sz="2800" dirty="0">
                <a:solidFill>
                  <a:schemeClr val="accent3">
                    <a:lumMod val="50000"/>
                  </a:schemeClr>
                </a:solidFill>
              </a:rPr>
              <a:t>DATA FRAMES</a:t>
            </a:r>
            <a:endParaRPr lang="en-US" sz="2800" dirty="0">
              <a:solidFill>
                <a:schemeClr val="accent3">
                  <a:lumMod val="50000"/>
                </a:schemeClr>
              </a:solidFill>
            </a:endParaRPr>
          </a:p>
        </p:txBody>
      </p:sp>
      <p:sp>
        <p:nvSpPr>
          <p:cNvPr id="3" name="Content Placeholder 2">
            <a:extLst>
              <a:ext uri="{FF2B5EF4-FFF2-40B4-BE49-F238E27FC236}">
                <a16:creationId xmlns:a16="http://schemas.microsoft.com/office/drawing/2014/main" xmlns="" id="{B983FEF6-BF6E-8251-6B98-301BAD5B59D1}"/>
              </a:ext>
            </a:extLst>
          </p:cNvPr>
          <p:cNvSpPr>
            <a:spLocks noGrp="1"/>
          </p:cNvSpPr>
          <p:nvPr>
            <p:ph idx="1"/>
          </p:nvPr>
        </p:nvSpPr>
        <p:spPr>
          <a:xfrm>
            <a:off x="1558344" y="1803043"/>
            <a:ext cx="7715658" cy="4816698"/>
          </a:xfrm>
        </p:spPr>
        <p:txBody>
          <a:bodyPr>
            <a:normAutofit/>
          </a:bodyPr>
          <a:lstStyle/>
          <a:p>
            <a:r>
              <a:rPr lang="en-IN" sz="2400" dirty="0"/>
              <a:t>It is the crucial components in loan price data prediction project.</a:t>
            </a:r>
          </a:p>
          <a:p>
            <a:r>
              <a:rPr lang="en-IN" sz="2400" dirty="0"/>
              <a:t>They help organize and manipulate data efficiency.</a:t>
            </a:r>
          </a:p>
          <a:p>
            <a:r>
              <a:rPr lang="en-IN" sz="2400" dirty="0"/>
              <a:t>Python library packages like NumPy, pandas are used for this purpose.</a:t>
            </a:r>
          </a:p>
          <a:p>
            <a:r>
              <a:rPr lang="en-IN" sz="2400" dirty="0"/>
              <a:t>Data Frames accepts many different kinds of inputs.</a:t>
            </a:r>
          </a:p>
          <a:p>
            <a:pPr marL="0" indent="0" algn="ctr">
              <a:buNone/>
            </a:pPr>
            <a:endParaRPr lang="en-US" sz="2400" dirty="0">
              <a:solidFill>
                <a:schemeClr val="tx1"/>
              </a:solidFill>
              <a:latin typeface="Trebuchet MS (Body)"/>
            </a:endParaRPr>
          </a:p>
          <a:p>
            <a:pPr marL="0" indent="0" algn="ctr">
              <a:buNone/>
            </a:pPr>
            <a:endParaRPr lang="en-US" sz="2400" dirty="0">
              <a:solidFill>
                <a:schemeClr val="tx1"/>
              </a:solidFill>
              <a:latin typeface="Trebuchet MS (Body)"/>
            </a:endParaRPr>
          </a:p>
          <a:p>
            <a:endParaRPr lang="en-US" sz="2000" dirty="0"/>
          </a:p>
        </p:txBody>
      </p:sp>
    </p:spTree>
    <p:extLst>
      <p:ext uri="{BB962C8B-B14F-4D97-AF65-F5344CB8AC3E}">
        <p14:creationId xmlns:p14="http://schemas.microsoft.com/office/powerpoint/2010/main" val="2087006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E12695-DA1E-2FCB-088B-A6BB5A58B44F}"/>
              </a:ext>
            </a:extLst>
          </p:cNvPr>
          <p:cNvSpPr>
            <a:spLocks noGrp="1"/>
          </p:cNvSpPr>
          <p:nvPr>
            <p:ph type="title"/>
          </p:nvPr>
        </p:nvSpPr>
        <p:spPr>
          <a:xfrm>
            <a:off x="930552" y="1157458"/>
            <a:ext cx="8596668" cy="1320800"/>
          </a:xfrm>
        </p:spPr>
        <p:txBody>
          <a:bodyPr>
            <a:normAutofit/>
          </a:bodyPr>
          <a:lstStyle/>
          <a:p>
            <a:r>
              <a:rPr lang="en-US" sz="3200" dirty="0">
                <a:solidFill>
                  <a:schemeClr val="accent3">
                    <a:lumMod val="50000"/>
                  </a:schemeClr>
                </a:solidFill>
              </a:rPr>
              <a:t>MODULES</a:t>
            </a:r>
          </a:p>
        </p:txBody>
      </p:sp>
      <p:sp>
        <p:nvSpPr>
          <p:cNvPr id="3" name="Content Placeholder 2">
            <a:extLst>
              <a:ext uri="{FF2B5EF4-FFF2-40B4-BE49-F238E27FC236}">
                <a16:creationId xmlns:a16="http://schemas.microsoft.com/office/drawing/2014/main" xmlns="" id="{6B0795AE-1F69-EF3E-16B3-98BF0B9D654F}"/>
              </a:ext>
            </a:extLst>
          </p:cNvPr>
          <p:cNvSpPr>
            <a:spLocks noGrp="1"/>
          </p:cNvSpPr>
          <p:nvPr>
            <p:ph idx="1"/>
          </p:nvPr>
        </p:nvSpPr>
        <p:spPr>
          <a:xfrm>
            <a:off x="1521395" y="2189407"/>
            <a:ext cx="8596668" cy="3511135"/>
          </a:xfrm>
        </p:spPr>
        <p:txBody>
          <a:bodyPr>
            <a:normAutofit/>
          </a:bodyPr>
          <a:lstStyle/>
          <a:p>
            <a:pPr marL="0" indent="0">
              <a:buNone/>
            </a:pPr>
            <a:r>
              <a:rPr lang="en-US" sz="2800" b="1" dirty="0"/>
              <a:t>Module 1: Cleaning the dataset</a:t>
            </a:r>
          </a:p>
          <a:p>
            <a:pPr marL="0" indent="0">
              <a:buNone/>
            </a:pPr>
            <a:r>
              <a:rPr lang="en-US" sz="2800" b="1" dirty="0"/>
              <a:t>Module 2: Frame the problem</a:t>
            </a:r>
          </a:p>
          <a:p>
            <a:pPr marL="0" indent="0">
              <a:buNone/>
            </a:pPr>
            <a:r>
              <a:rPr lang="en-US" sz="2800" b="1" dirty="0"/>
              <a:t>Module 2: Data preprocessing</a:t>
            </a:r>
          </a:p>
          <a:p>
            <a:pPr marL="0" indent="0">
              <a:buNone/>
            </a:pPr>
            <a:r>
              <a:rPr lang="en-US" sz="2800" b="1" dirty="0"/>
              <a:t>Module 3: Computing Accuracy</a:t>
            </a:r>
          </a:p>
          <a:p>
            <a:pPr marL="0" indent="0">
              <a:buNone/>
            </a:pPr>
            <a:r>
              <a:rPr lang="en-US" sz="2800" b="1" dirty="0"/>
              <a:t>Module 4: Model Deployment</a:t>
            </a:r>
          </a:p>
          <a:p>
            <a:pPr marL="0" indent="0">
              <a:buNone/>
            </a:pPr>
            <a:endParaRPr lang="en-US" sz="2400" b="1" dirty="0"/>
          </a:p>
          <a:p>
            <a:pPr marL="0" indent="0">
              <a:buNone/>
            </a:pPr>
            <a:endParaRPr lang="en-US" sz="2400" b="1"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210120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52FD1B-7F6F-C857-33D7-E03427DBF0F3}"/>
              </a:ext>
            </a:extLst>
          </p:cNvPr>
          <p:cNvSpPr>
            <a:spLocks noGrp="1"/>
          </p:cNvSpPr>
          <p:nvPr>
            <p:ph type="title"/>
          </p:nvPr>
        </p:nvSpPr>
        <p:spPr>
          <a:xfrm>
            <a:off x="1451579" y="804520"/>
            <a:ext cx="9603275" cy="740946"/>
          </a:xfrm>
        </p:spPr>
        <p:txBody>
          <a:bodyPr/>
          <a:lstStyle/>
          <a:p>
            <a:r>
              <a:rPr lang="en-IN" dirty="0">
                <a:solidFill>
                  <a:schemeClr val="accent3">
                    <a:lumMod val="75000"/>
                  </a:schemeClr>
                </a:solidFill>
              </a:rPr>
              <a:t>ALGORITHM</a:t>
            </a:r>
            <a:endParaRPr lang="en-US" dirty="0">
              <a:solidFill>
                <a:schemeClr val="accent3">
                  <a:lumMod val="75000"/>
                </a:schemeClr>
              </a:solidFill>
            </a:endParaRPr>
          </a:p>
        </p:txBody>
      </p:sp>
      <p:sp>
        <p:nvSpPr>
          <p:cNvPr id="3" name="Content Placeholder 2">
            <a:extLst>
              <a:ext uri="{FF2B5EF4-FFF2-40B4-BE49-F238E27FC236}">
                <a16:creationId xmlns:a16="http://schemas.microsoft.com/office/drawing/2014/main" xmlns="" id="{2C2BE88D-9F15-C18D-F26F-F7531FBC1136}"/>
              </a:ext>
            </a:extLst>
          </p:cNvPr>
          <p:cNvSpPr>
            <a:spLocks noGrp="1"/>
          </p:cNvSpPr>
          <p:nvPr>
            <p:ph idx="1"/>
          </p:nvPr>
        </p:nvSpPr>
        <p:spPr>
          <a:xfrm>
            <a:off x="1451579" y="2015732"/>
            <a:ext cx="9843193" cy="4037748"/>
          </a:xfrm>
        </p:spPr>
        <p:txBody>
          <a:bodyPr>
            <a:normAutofit fontScale="62500" lnSpcReduction="20000"/>
          </a:bodyPr>
          <a:lstStyle/>
          <a:p>
            <a:pPr algn="just">
              <a:lnSpc>
                <a:spcPct val="150000"/>
              </a:lnSpc>
            </a:pPr>
            <a:r>
              <a:rPr lang="en-IN" sz="2600" b="1" dirty="0">
                <a:solidFill>
                  <a:schemeClr val="tx1"/>
                </a:solidFill>
                <a:latin typeface="+mj-lt"/>
                <a:cs typeface="Times New Roman" panose="02020603050405020304" pitchFamily="18" charset="0"/>
              </a:rPr>
              <a:t>It is a statistical model that in its basic form uses a logistic function to model a binary dependent variable, although many more complex extension exist. </a:t>
            </a:r>
          </a:p>
          <a:p>
            <a:pPr algn="just">
              <a:lnSpc>
                <a:spcPct val="150000"/>
              </a:lnSpc>
            </a:pPr>
            <a:r>
              <a:rPr lang="en-IN" sz="2600" b="1" dirty="0">
                <a:solidFill>
                  <a:schemeClr val="tx1"/>
                </a:solidFill>
                <a:latin typeface="+mj-lt"/>
                <a:cs typeface="Times New Roman" panose="02020603050405020304" pitchFamily="18" charset="0"/>
              </a:rPr>
              <a:t>In regression analysis, logistic regression(1)  (or logit regression) is estimation the parameters of a logistic model (a form of binary regression ).</a:t>
            </a:r>
          </a:p>
          <a:p>
            <a:pPr algn="just">
              <a:lnSpc>
                <a:spcPct val="150000"/>
              </a:lnSpc>
            </a:pPr>
            <a:r>
              <a:rPr lang="en-IN" sz="2600" b="1" dirty="0">
                <a:solidFill>
                  <a:schemeClr val="tx1"/>
                </a:solidFill>
                <a:latin typeface="+mj-lt"/>
                <a:cs typeface="Times New Roman" panose="02020603050405020304" pitchFamily="18" charset="0"/>
              </a:rPr>
              <a:t>Mathematically ,a binary logistic model has a dependent variable with two possible values ,such as pass fail which is represented by an indicator variable, where the two values are logistic regression.</a:t>
            </a:r>
          </a:p>
          <a:p>
            <a:pPr algn="just">
              <a:lnSpc>
                <a:spcPct val="150000"/>
              </a:lnSpc>
            </a:pPr>
            <a:r>
              <a:rPr lang="en-GB" sz="2600" b="1" dirty="0">
                <a:solidFill>
                  <a:schemeClr val="tx1"/>
                </a:solidFill>
                <a:latin typeface="+mj-lt"/>
                <a:cs typeface="Times New Roman" panose="02020603050405020304" pitchFamily="18" charset="0"/>
              </a:rPr>
              <a:t>Supervised Learning Technique.</a:t>
            </a:r>
          </a:p>
          <a:p>
            <a:pPr algn="just">
              <a:lnSpc>
                <a:spcPct val="150000"/>
              </a:lnSpc>
            </a:pPr>
            <a:r>
              <a:rPr lang="en-GB" sz="2600" b="1" dirty="0">
                <a:solidFill>
                  <a:schemeClr val="tx1"/>
                </a:solidFill>
                <a:latin typeface="+mj-lt"/>
                <a:cs typeface="Times New Roman" panose="02020603050405020304" pitchFamily="18" charset="0"/>
              </a:rPr>
              <a:t>Correlation Outperformance PCA (Principal Component Analysis) at low feature</a:t>
            </a:r>
            <a:r>
              <a:rPr lang="en-GB" sz="2600" b="1" dirty="0">
                <a:solidFill>
                  <a:schemeClr val="tx1"/>
                </a:solidFill>
                <a:effectLst>
                  <a:outerShdw blurRad="38100" dist="19050" dir="2700000" algn="tl">
                    <a:srgbClr val="000000">
                      <a:alpha val="40000"/>
                    </a:srgbClr>
                  </a:outerShdw>
                </a:effectLst>
                <a:latin typeface="+mj-lt"/>
                <a:cs typeface="Times New Roman" panose="02020603050405020304" pitchFamily="18" charset="0"/>
              </a:rPr>
              <a:t>s.</a:t>
            </a:r>
            <a:endParaRPr lang="en-IN" sz="2600" b="1" dirty="0">
              <a:solidFill>
                <a:schemeClr val="tx1"/>
              </a:solidFill>
              <a:latin typeface="+mj-lt"/>
              <a:cs typeface="Times New Roman" panose="02020603050405020304" pitchFamily="18" charset="0"/>
            </a:endParaRPr>
          </a:p>
          <a:p>
            <a:pPr algn="just">
              <a:lnSpc>
                <a:spcPct val="150000"/>
              </a:lnSpc>
            </a:pPr>
            <a:r>
              <a:rPr lang="en-GB" sz="2600" b="1" dirty="0">
                <a:solidFill>
                  <a:schemeClr val="tx1"/>
                </a:solidFill>
                <a:latin typeface="+mj-lt"/>
                <a:cs typeface="Times New Roman" panose="02020603050405020304" pitchFamily="18" charset="0"/>
              </a:rPr>
              <a:t>Has a 94.6% accuracy for high features count. Doesn’t exhibit overfitting</a:t>
            </a:r>
            <a:endParaRPr lang="en-IN" sz="2600" b="1" dirty="0">
              <a:solidFill>
                <a:schemeClr val="tx1"/>
              </a:solidFill>
              <a:latin typeface="+mj-lt"/>
              <a:cs typeface="Times New Roman" panose="02020603050405020304" pitchFamily="18" charset="0"/>
            </a:endParaRPr>
          </a:p>
          <a:p>
            <a:endParaRPr lang="en-US" dirty="0"/>
          </a:p>
        </p:txBody>
      </p:sp>
    </p:spTree>
    <p:extLst>
      <p:ext uri="{BB962C8B-B14F-4D97-AF65-F5344CB8AC3E}">
        <p14:creationId xmlns:p14="http://schemas.microsoft.com/office/powerpoint/2010/main" val="3164910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5473C6-0E35-9E08-F319-3183CF0EB6FE}"/>
              </a:ext>
            </a:extLst>
          </p:cNvPr>
          <p:cNvSpPr>
            <a:spLocks noGrp="1"/>
          </p:cNvSpPr>
          <p:nvPr>
            <p:ph type="title"/>
          </p:nvPr>
        </p:nvSpPr>
        <p:spPr/>
        <p:txBody>
          <a:bodyPr>
            <a:normAutofit/>
          </a:bodyPr>
          <a:lstStyle/>
          <a:p>
            <a:r>
              <a:rPr lang="en-IN" sz="2800" dirty="0">
                <a:solidFill>
                  <a:schemeClr val="accent3">
                    <a:lumMod val="50000"/>
                  </a:schemeClr>
                </a:solidFill>
              </a:rPr>
              <a:t>PYTHON PACKAGES</a:t>
            </a:r>
            <a:endParaRPr lang="en-US" sz="2800" dirty="0">
              <a:solidFill>
                <a:schemeClr val="accent3">
                  <a:lumMod val="50000"/>
                </a:schemeClr>
              </a:solidFill>
            </a:endParaRPr>
          </a:p>
        </p:txBody>
      </p:sp>
      <p:sp>
        <p:nvSpPr>
          <p:cNvPr id="3" name="Content Placeholder 2">
            <a:extLst>
              <a:ext uri="{FF2B5EF4-FFF2-40B4-BE49-F238E27FC236}">
                <a16:creationId xmlns:a16="http://schemas.microsoft.com/office/drawing/2014/main" xmlns="" id="{A852E757-928B-D6EE-89B4-305515E11761}"/>
              </a:ext>
            </a:extLst>
          </p:cNvPr>
          <p:cNvSpPr>
            <a:spLocks noGrp="1"/>
          </p:cNvSpPr>
          <p:nvPr>
            <p:ph idx="1"/>
          </p:nvPr>
        </p:nvSpPr>
        <p:spPr>
          <a:xfrm>
            <a:off x="857638" y="1853754"/>
            <a:ext cx="10197216" cy="4379987"/>
          </a:xfrm>
        </p:spPr>
        <p:txBody>
          <a:bodyPr>
            <a:normAutofit/>
          </a:bodyPr>
          <a:lstStyle/>
          <a:p>
            <a:pPr marL="0" indent="0">
              <a:buNone/>
            </a:pPr>
            <a:r>
              <a:rPr lang="en-GB" sz="2400" b="1" i="0" dirty="0">
                <a:solidFill>
                  <a:schemeClr val="tx1"/>
                </a:solidFill>
                <a:effectLst/>
                <a:latin typeface="+mj-lt"/>
              </a:rPr>
              <a:t>	</a:t>
            </a:r>
            <a:r>
              <a:rPr lang="en-GB" b="1" i="0" dirty="0">
                <a:solidFill>
                  <a:schemeClr val="tx1"/>
                </a:solidFill>
                <a:effectLst/>
                <a:latin typeface="+mj-lt"/>
              </a:rPr>
              <a:t>There are several Python packages commonly used for </a:t>
            </a:r>
            <a:r>
              <a:rPr lang="en-GB" b="1" dirty="0">
                <a:latin typeface="+mj-lt"/>
              </a:rPr>
              <a:t>loan price prediction    project</a:t>
            </a:r>
            <a:r>
              <a:rPr lang="en-GB" b="1" i="0" dirty="0">
                <a:solidFill>
                  <a:schemeClr val="tx1"/>
                </a:solidFill>
                <a:effectLst/>
                <a:latin typeface="+mj-lt"/>
              </a:rPr>
              <a:t>.</a:t>
            </a:r>
          </a:p>
          <a:p>
            <a:r>
              <a:rPr lang="en-US" sz="2000" b="1" dirty="0">
                <a:latin typeface="Times New Roman" panose="02020603050405020304" pitchFamily="18" charset="0"/>
                <a:cs typeface="Times New Roman" panose="02020603050405020304" pitchFamily="18" charset="0"/>
              </a:rPr>
              <a:t> </a:t>
            </a:r>
            <a:r>
              <a:rPr lang="en-US" sz="2000" b="1" dirty="0">
                <a:latin typeface="+mj-lt"/>
                <a:cs typeface="Times New Roman" panose="02020603050405020304" pitchFamily="18" charset="0"/>
              </a:rPr>
              <a:t>NumPy: For simple arrays. </a:t>
            </a:r>
          </a:p>
          <a:p>
            <a:r>
              <a:rPr lang="en-US" sz="2000" b="1" dirty="0">
                <a:latin typeface="+mj-lt"/>
                <a:cs typeface="Times New Roman" panose="02020603050405020304" pitchFamily="18" charset="0"/>
              </a:rPr>
              <a:t>Pandas: For reading the file. </a:t>
            </a:r>
          </a:p>
          <a:p>
            <a:r>
              <a:rPr lang="en-US" sz="2000" b="1" dirty="0" err="1">
                <a:latin typeface="+mj-lt"/>
                <a:cs typeface="Times New Roman" panose="02020603050405020304" pitchFamily="18" charset="0"/>
              </a:rPr>
              <a:t>SciKit</a:t>
            </a:r>
            <a:r>
              <a:rPr lang="en-US" sz="2000" b="1" dirty="0">
                <a:latin typeface="+mj-lt"/>
                <a:cs typeface="Times New Roman" panose="02020603050405020304" pitchFamily="18" charset="0"/>
              </a:rPr>
              <a:t>: Learn- for pre-processing.</a:t>
            </a:r>
          </a:p>
          <a:p>
            <a:r>
              <a:rPr lang="en-US" sz="2000" b="1" dirty="0">
                <a:latin typeface="+mj-lt"/>
                <a:cs typeface="Times New Roman" panose="02020603050405020304" pitchFamily="18" charset="0"/>
              </a:rPr>
              <a:t>Matplotlib or Seaborn: For plotting and representing confusion matrix color format. </a:t>
            </a:r>
          </a:p>
          <a:p>
            <a:r>
              <a:rPr lang="en-US" sz="2000" b="1" dirty="0">
                <a:latin typeface="+mj-lt"/>
                <a:cs typeface="Times New Roman" panose="02020603050405020304" pitchFamily="18" charset="0"/>
              </a:rPr>
              <a:t>Tensor flow: For matrix format.</a:t>
            </a:r>
          </a:p>
          <a:p>
            <a:endParaRPr lang="en-US" sz="2000" dirty="0">
              <a:solidFill>
                <a:schemeClr val="tx1"/>
              </a:solidFill>
              <a:latin typeface="+mj-lt"/>
            </a:endParaRPr>
          </a:p>
        </p:txBody>
      </p:sp>
    </p:spTree>
    <p:extLst>
      <p:ext uri="{BB962C8B-B14F-4D97-AF65-F5344CB8AC3E}">
        <p14:creationId xmlns:p14="http://schemas.microsoft.com/office/powerpoint/2010/main" val="4032004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bwMode="auto">
          <a:xfrm>
            <a:off x="677334" y="1008391"/>
            <a:ext cx="59371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chemeClr val="accent3">
                    <a:lumMod val="50000"/>
                  </a:schemeClr>
                </a:solidFill>
                <a:effectLst/>
              </a:rPr>
              <a:t>COMPARISON</a:t>
            </a:r>
            <a:r>
              <a:rPr kumimoji="0" lang="en-US" altLang="en-US" sz="2800" b="0" i="0" u="none" strike="noStrike" cap="none" normalizeH="0" dirty="0" smtClean="0">
                <a:ln>
                  <a:noFill/>
                </a:ln>
                <a:solidFill>
                  <a:schemeClr val="accent3">
                    <a:lumMod val="50000"/>
                  </a:schemeClr>
                </a:solidFill>
                <a:effectLst/>
              </a:rPr>
              <a:t> CLASSES</a:t>
            </a:r>
            <a:endParaRPr kumimoji="0" lang="en-US" altLang="en-US" sz="2800" b="0" i="0" u="none" strike="noStrike" cap="none" normalizeH="0" baseline="0" dirty="0">
              <a:ln>
                <a:noFill/>
              </a:ln>
              <a:solidFill>
                <a:schemeClr val="accent3">
                  <a:lumMod val="50000"/>
                </a:schemeClr>
              </a:solidFill>
              <a:effectLst/>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29556" y="2350093"/>
            <a:ext cx="4512179" cy="3085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0211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20"/>
            <a:ext cx="9603275" cy="554262"/>
          </a:xfrm>
        </p:spPr>
        <p:txBody>
          <a:bodyPr>
            <a:noAutofit/>
          </a:bodyPr>
          <a:lstStyle/>
          <a:p>
            <a:r>
              <a:rPr lang="en-US" sz="2800" dirty="0" smtClean="0">
                <a:solidFill>
                  <a:schemeClr val="accent3">
                    <a:lumMod val="50000"/>
                  </a:schemeClr>
                </a:solidFill>
              </a:rPr>
              <a:t>APPLICATION INCOMES</a:t>
            </a:r>
            <a:endParaRPr lang="en-US" sz="2800" dirty="0">
              <a:solidFill>
                <a:schemeClr val="accent3">
                  <a:lumMod val="50000"/>
                </a:schemeClr>
              </a:solidFill>
            </a:endParaRP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62983" y="2185194"/>
            <a:ext cx="8417608" cy="3702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6262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718" y="814832"/>
            <a:ext cx="8596668" cy="1320800"/>
          </a:xfrm>
        </p:spPr>
        <p:txBody>
          <a:bodyPr>
            <a:normAutofit/>
          </a:bodyPr>
          <a:lstStyle/>
          <a:p>
            <a:r>
              <a:rPr lang="en-US" sz="2800" dirty="0" smtClean="0">
                <a:solidFill>
                  <a:schemeClr val="accent3">
                    <a:lumMod val="50000"/>
                  </a:schemeClr>
                </a:solidFill>
              </a:rPr>
              <a:t>GENDER WISE FOR LOAN STATUS</a:t>
            </a:r>
            <a:endParaRPr lang="en-US" sz="2800" dirty="0">
              <a:solidFill>
                <a:schemeClr val="accent3">
                  <a:lumMod val="50000"/>
                </a:schemeClr>
              </a:solidFill>
            </a:endParaRP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45750" y="2296319"/>
            <a:ext cx="6810998" cy="3378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6218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CNFUSION MATRIX</a:t>
            </a:r>
            <a:endParaRPr lang="en-US" dirty="0"/>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60293" y="2016124"/>
            <a:ext cx="7016096" cy="3983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2937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solidFill>
                  <a:schemeClr val="accent3">
                    <a:lumMod val="50000"/>
                  </a:schemeClr>
                </a:solidFill>
              </a:rPr>
              <a:t>CORRELATION MATRIX OR HEAT MAP</a:t>
            </a:r>
            <a:endParaRPr lang="en-US" sz="2800" dirty="0">
              <a:solidFill>
                <a:schemeClr val="accent3">
                  <a:lumMod val="50000"/>
                </a:schemeClr>
              </a:solidFill>
            </a:endParaRP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6288" y="1981942"/>
            <a:ext cx="6785645" cy="4171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5712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ACCURACY</a:t>
            </a:r>
            <a:endParaRPr lang="en-US"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67185" y="2016125"/>
            <a:ext cx="7819402" cy="344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23134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667894-22F0-1970-D6A7-CBFC09104D08}"/>
              </a:ext>
            </a:extLst>
          </p:cNvPr>
          <p:cNvSpPr>
            <a:spLocks noGrp="1"/>
          </p:cNvSpPr>
          <p:nvPr>
            <p:ph type="title"/>
          </p:nvPr>
        </p:nvSpPr>
        <p:spPr>
          <a:xfrm>
            <a:off x="1000891" y="919090"/>
            <a:ext cx="8596668" cy="372577"/>
          </a:xfrm>
        </p:spPr>
        <p:txBody>
          <a:bodyPr>
            <a:noAutofit/>
          </a:bodyPr>
          <a:lstStyle/>
          <a:p>
            <a:r>
              <a:rPr lang="en-US" sz="2800" dirty="0">
                <a:solidFill>
                  <a:schemeClr val="accent3">
                    <a:lumMod val="50000"/>
                  </a:schemeClr>
                </a:solidFill>
              </a:rPr>
              <a:t> Feature Enhancement</a:t>
            </a:r>
          </a:p>
        </p:txBody>
      </p:sp>
      <p:sp>
        <p:nvSpPr>
          <p:cNvPr id="3" name="Content Placeholder 2">
            <a:extLst>
              <a:ext uri="{FF2B5EF4-FFF2-40B4-BE49-F238E27FC236}">
                <a16:creationId xmlns:a16="http://schemas.microsoft.com/office/drawing/2014/main" xmlns="" id="{D03FB850-D4F8-6088-5212-BBE42C1C16F4}"/>
              </a:ext>
            </a:extLst>
          </p:cNvPr>
          <p:cNvSpPr>
            <a:spLocks noGrp="1"/>
          </p:cNvSpPr>
          <p:nvPr>
            <p:ph idx="1"/>
          </p:nvPr>
        </p:nvSpPr>
        <p:spPr>
          <a:xfrm>
            <a:off x="993584" y="1944709"/>
            <a:ext cx="10095125" cy="4610637"/>
          </a:xfrm>
        </p:spPr>
        <p:txBody>
          <a:bodyPr>
            <a:normAutofit/>
          </a:bodyPr>
          <a:lstStyle/>
          <a:p>
            <a:pPr marL="0" indent="0">
              <a:buNone/>
            </a:pPr>
            <a:r>
              <a:rPr lang="en-IN" sz="2000" b="1" dirty="0">
                <a:solidFill>
                  <a:schemeClr val="accent4">
                    <a:lumMod val="50000"/>
                  </a:schemeClr>
                </a:solidFill>
              </a:rPr>
              <a:t>        </a:t>
            </a:r>
            <a:endParaRPr lang="en-IN" sz="2600" b="1" dirty="0">
              <a:solidFill>
                <a:schemeClr val="accent3"/>
              </a:solidFill>
            </a:endParaRPr>
          </a:p>
          <a:p>
            <a:pPr>
              <a:buFont typeface="Arial" panose="020B0604020202020204" pitchFamily="34" charset="0"/>
              <a:buChar char="•"/>
            </a:pPr>
            <a:r>
              <a:rPr lang="en-IN" sz="2400" b="1" dirty="0"/>
              <a:t>Dynamic price prediction</a:t>
            </a:r>
          </a:p>
          <a:p>
            <a:pPr>
              <a:buFont typeface="Arial" panose="020B0604020202020204" pitchFamily="34" charset="0"/>
              <a:buChar char="•"/>
            </a:pPr>
            <a:r>
              <a:rPr lang="en-IN" sz="2400" b="1" dirty="0"/>
              <a:t>Fully customization</a:t>
            </a:r>
          </a:p>
          <a:p>
            <a:pPr>
              <a:buFont typeface="Arial" panose="020B0604020202020204" pitchFamily="34" charset="0"/>
              <a:buChar char="•"/>
            </a:pPr>
            <a:r>
              <a:rPr lang="en-IN" sz="2400" b="1" dirty="0"/>
              <a:t>Real-time data integration</a:t>
            </a:r>
          </a:p>
          <a:p>
            <a:pPr>
              <a:buFont typeface="Arial" panose="020B0604020202020204" pitchFamily="34" charset="0"/>
              <a:buChar char="•"/>
            </a:pPr>
            <a:r>
              <a:rPr lang="en-IN" sz="2600" b="1" dirty="0"/>
              <a:t>Integrate loan prices</a:t>
            </a:r>
          </a:p>
          <a:p>
            <a:pPr>
              <a:buFont typeface="Arial" panose="020B0604020202020204" pitchFamily="34" charset="0"/>
              <a:buChar char="•"/>
            </a:pPr>
            <a:r>
              <a:rPr lang="en-IN" sz="2600" b="1" dirty="0"/>
              <a:t>Global monitoring systems </a:t>
            </a:r>
          </a:p>
          <a:p>
            <a:pPr marL="0" indent="0">
              <a:buNone/>
            </a:pPr>
            <a:r>
              <a:rPr lang="en-IN" sz="2000" dirty="0"/>
              <a:t>                </a:t>
            </a:r>
            <a:endParaRPr lang="en-US" sz="2200" dirty="0"/>
          </a:p>
        </p:txBody>
      </p:sp>
    </p:spTree>
    <p:extLst>
      <p:ext uri="{BB962C8B-B14F-4D97-AF65-F5344CB8AC3E}">
        <p14:creationId xmlns:p14="http://schemas.microsoft.com/office/powerpoint/2010/main" val="1410742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913ED7-3B7B-3DD9-F16F-AAB73926D361}"/>
              </a:ext>
            </a:extLst>
          </p:cNvPr>
          <p:cNvSpPr>
            <a:spLocks noGrp="1"/>
          </p:cNvSpPr>
          <p:nvPr>
            <p:ph type="title"/>
          </p:nvPr>
        </p:nvSpPr>
        <p:spPr>
          <a:xfrm>
            <a:off x="564792" y="901521"/>
            <a:ext cx="8596668" cy="972608"/>
          </a:xfrm>
        </p:spPr>
        <p:txBody>
          <a:bodyPr>
            <a:normAutofit/>
          </a:bodyPr>
          <a:lstStyle/>
          <a:p>
            <a:r>
              <a:rPr lang="en-US" sz="2800" dirty="0">
                <a:solidFill>
                  <a:schemeClr val="accent3">
                    <a:lumMod val="50000"/>
                  </a:schemeClr>
                </a:solidFill>
              </a:rPr>
              <a:t>Conclusion</a:t>
            </a:r>
          </a:p>
        </p:txBody>
      </p:sp>
      <p:sp>
        <p:nvSpPr>
          <p:cNvPr id="3" name="Content Placeholder 2">
            <a:extLst>
              <a:ext uri="{FF2B5EF4-FFF2-40B4-BE49-F238E27FC236}">
                <a16:creationId xmlns:a16="http://schemas.microsoft.com/office/drawing/2014/main" xmlns="" id="{F997F5DD-24E1-2949-E9AC-F65332FFB7D7}"/>
              </a:ext>
            </a:extLst>
          </p:cNvPr>
          <p:cNvSpPr>
            <a:spLocks noGrp="1"/>
          </p:cNvSpPr>
          <p:nvPr>
            <p:ph idx="1"/>
          </p:nvPr>
        </p:nvSpPr>
        <p:spPr>
          <a:xfrm>
            <a:off x="1029025" y="1970468"/>
            <a:ext cx="10136957" cy="4559120"/>
          </a:xfrm>
        </p:spPr>
        <p:txBody>
          <a:bodyPr>
            <a:noAutofit/>
          </a:bodyPr>
          <a:lstStyle/>
          <a:p>
            <a:r>
              <a:rPr lang="en-US" sz="2400" b="1" dirty="0" smtClean="0"/>
              <a:t>From </a:t>
            </a:r>
            <a:r>
              <a:rPr lang="en-US" sz="2400" b="1" dirty="0"/>
              <a:t>the Exploratory Data Analysis, we could generate insight from the data. How each of the features relates to the target. Also, it can be seen from the evaluation of three models that Logistic Regression performed better than others, Random Forest and Decision Tree.</a:t>
            </a:r>
            <a:r>
              <a:rPr lang="en-IN" sz="2400" b="1" dirty="0" smtClean="0"/>
              <a:t>  </a:t>
            </a:r>
          </a:p>
          <a:p>
            <a:r>
              <a:rPr lang="en-US" sz="2400" b="1" dirty="0"/>
              <a:t>The conclusion about loan price prediction using machine learning (ML) depends on various factors such as the quality of the data, the features used in the model, the algorithm chosen, and the evaluation metrics employed. </a:t>
            </a:r>
            <a:endParaRPr lang="en-IN" sz="2400" b="1" dirty="0"/>
          </a:p>
        </p:txBody>
      </p:sp>
    </p:spTree>
    <p:extLst>
      <p:ext uri="{BB962C8B-B14F-4D97-AF65-F5344CB8AC3E}">
        <p14:creationId xmlns:p14="http://schemas.microsoft.com/office/powerpoint/2010/main" val="1607073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D3A1F9-403C-62CD-DAA2-5F6163B90D47}"/>
              </a:ext>
            </a:extLst>
          </p:cNvPr>
          <p:cNvSpPr>
            <a:spLocks noGrp="1"/>
          </p:cNvSpPr>
          <p:nvPr>
            <p:ph type="title"/>
          </p:nvPr>
        </p:nvSpPr>
        <p:spPr>
          <a:xfrm>
            <a:off x="1071230" y="746975"/>
            <a:ext cx="8596668" cy="476518"/>
          </a:xfrm>
        </p:spPr>
        <p:txBody>
          <a:bodyPr>
            <a:normAutofit/>
          </a:bodyPr>
          <a:lstStyle/>
          <a:p>
            <a:r>
              <a:rPr lang="en-US" sz="2800" dirty="0">
                <a:solidFill>
                  <a:schemeClr val="accent3">
                    <a:lumMod val="50000"/>
                  </a:schemeClr>
                </a:solidFill>
              </a:rPr>
              <a:t>Reference</a:t>
            </a:r>
          </a:p>
        </p:txBody>
      </p:sp>
      <p:sp>
        <p:nvSpPr>
          <p:cNvPr id="3" name="Content Placeholder 2">
            <a:extLst>
              <a:ext uri="{FF2B5EF4-FFF2-40B4-BE49-F238E27FC236}">
                <a16:creationId xmlns:a16="http://schemas.microsoft.com/office/drawing/2014/main" xmlns="" id="{A176B89B-914F-E869-6D74-A96FF6FFD489}"/>
              </a:ext>
            </a:extLst>
          </p:cNvPr>
          <p:cNvSpPr>
            <a:spLocks noGrp="1"/>
          </p:cNvSpPr>
          <p:nvPr>
            <p:ph idx="1"/>
          </p:nvPr>
        </p:nvSpPr>
        <p:spPr>
          <a:xfrm>
            <a:off x="1394785" y="1948441"/>
            <a:ext cx="8596668" cy="4909559"/>
          </a:xfrm>
        </p:spPr>
        <p:txBody>
          <a:bodyPr>
            <a:noAutofit/>
          </a:bodyPr>
          <a:lstStyle/>
          <a:p>
            <a:pPr marL="0" indent="0">
              <a:buNone/>
            </a:pPr>
            <a:r>
              <a:rPr lang="en-US" sz="1400" b="1" dirty="0" smtClean="0"/>
              <a:t>1. "Loan </a:t>
            </a:r>
            <a:r>
              <a:rPr lang="en-US" sz="1400" b="1" dirty="0"/>
              <a:t>Approval Prediction Using Machine Learning Techniques" by </a:t>
            </a:r>
            <a:r>
              <a:rPr lang="en-US" sz="1400" b="1" dirty="0" err="1"/>
              <a:t>Varun</a:t>
            </a:r>
            <a:r>
              <a:rPr lang="en-US" sz="1400" b="1" dirty="0"/>
              <a:t> Sharma, </a:t>
            </a:r>
            <a:r>
              <a:rPr lang="en-US" sz="1400" b="1" dirty="0" err="1"/>
              <a:t>Shubham</a:t>
            </a:r>
            <a:r>
              <a:rPr lang="en-US" sz="1400" b="1" dirty="0"/>
              <a:t> Jain, </a:t>
            </a:r>
            <a:r>
              <a:rPr lang="en-US" sz="1400" b="1" dirty="0" err="1"/>
              <a:t>Shivam</a:t>
            </a:r>
            <a:r>
              <a:rPr lang="en-US" sz="1400" b="1" dirty="0"/>
              <a:t> </a:t>
            </a:r>
            <a:r>
              <a:rPr lang="en-US" sz="1400" b="1" dirty="0" err="1"/>
              <a:t>Bansal</a:t>
            </a:r>
            <a:r>
              <a:rPr lang="en-US" sz="1400" b="1" dirty="0"/>
              <a:t>, and </a:t>
            </a:r>
            <a:r>
              <a:rPr lang="en-US" sz="1400" b="1" dirty="0" err="1"/>
              <a:t>Tanuj</a:t>
            </a:r>
            <a:r>
              <a:rPr lang="en-US" sz="1400" b="1" dirty="0"/>
              <a:t> Jain. This paper explores the use of various machine learning algorithms such as Decision Trees, Random Forests, and Gradient Boosting Machines for loan approval prediction.</a:t>
            </a:r>
          </a:p>
          <a:p>
            <a:pPr marL="0" indent="0">
              <a:buNone/>
            </a:pPr>
            <a:r>
              <a:rPr lang="en-US" sz="1400" b="1" dirty="0" smtClean="0"/>
              <a:t>2. "A </a:t>
            </a:r>
            <a:r>
              <a:rPr lang="en-US" sz="1400" b="1" dirty="0"/>
              <a:t>Comparative Study of Machine Learning Algorithms for Loan Default Prediction" by </a:t>
            </a:r>
            <a:r>
              <a:rPr lang="en-US" sz="1400" b="1" dirty="0" err="1"/>
              <a:t>Akshay</a:t>
            </a:r>
            <a:r>
              <a:rPr lang="en-US" sz="1400" b="1" dirty="0"/>
              <a:t> </a:t>
            </a:r>
            <a:r>
              <a:rPr lang="en-US" sz="1400" b="1" dirty="0" err="1"/>
              <a:t>Verma</a:t>
            </a:r>
            <a:r>
              <a:rPr lang="en-US" sz="1400" b="1" dirty="0"/>
              <a:t>, </a:t>
            </a:r>
            <a:r>
              <a:rPr lang="en-US" sz="1400" b="1" dirty="0" err="1"/>
              <a:t>Kshitij</a:t>
            </a:r>
            <a:r>
              <a:rPr lang="en-US" sz="1400" b="1" dirty="0"/>
              <a:t> </a:t>
            </a:r>
            <a:r>
              <a:rPr lang="en-US" sz="1400" b="1" dirty="0" err="1"/>
              <a:t>Chhajer</a:t>
            </a:r>
            <a:r>
              <a:rPr lang="en-US" sz="1400" b="1" dirty="0"/>
              <a:t>, and </a:t>
            </a:r>
            <a:r>
              <a:rPr lang="en-US" sz="1400" b="1" dirty="0" err="1"/>
              <a:t>Bhargavi</a:t>
            </a:r>
            <a:r>
              <a:rPr lang="en-US" sz="1400" b="1" dirty="0"/>
              <a:t> </a:t>
            </a:r>
            <a:r>
              <a:rPr lang="en-US" sz="1400" b="1" dirty="0" err="1"/>
              <a:t>Paranjape</a:t>
            </a:r>
            <a:r>
              <a:rPr lang="en-US" sz="1400" b="1" dirty="0"/>
              <a:t>. This study compares the performance of different machine learning algorithms including Logistic Regression, Support Vector Machines, Random Forests, and Gradient Boosting Machines for loan default prediction.</a:t>
            </a:r>
          </a:p>
          <a:p>
            <a:pPr marL="0" indent="0">
              <a:buNone/>
            </a:pPr>
            <a:r>
              <a:rPr lang="en-US" sz="1400" b="1" dirty="0" smtClean="0"/>
              <a:t>3. "Predicting </a:t>
            </a:r>
            <a:r>
              <a:rPr lang="en-US" sz="1400" b="1" dirty="0"/>
              <a:t>Loan Repayment with Machine Learning Algorithms" by </a:t>
            </a:r>
            <a:r>
              <a:rPr lang="en-US" sz="1400" b="1" dirty="0" err="1"/>
              <a:t>Sangeeta</a:t>
            </a:r>
            <a:r>
              <a:rPr lang="en-US" sz="1400" b="1" dirty="0"/>
              <a:t> </a:t>
            </a:r>
            <a:r>
              <a:rPr lang="en-US" sz="1400" b="1" dirty="0" err="1"/>
              <a:t>Agrawal</a:t>
            </a:r>
            <a:r>
              <a:rPr lang="en-US" sz="1400" b="1" dirty="0"/>
              <a:t>, </a:t>
            </a:r>
            <a:r>
              <a:rPr lang="en-US" sz="1400" b="1" dirty="0" err="1"/>
              <a:t>Ramkumar</a:t>
            </a:r>
            <a:r>
              <a:rPr lang="en-US" sz="1400" b="1" dirty="0"/>
              <a:t> </a:t>
            </a:r>
            <a:r>
              <a:rPr lang="en-US" sz="1400" b="1" dirty="0" err="1"/>
              <a:t>Rajendran</a:t>
            </a:r>
            <a:r>
              <a:rPr lang="en-US" sz="1400" b="1" dirty="0"/>
              <a:t>, and </a:t>
            </a:r>
            <a:r>
              <a:rPr lang="en-US" sz="1400" b="1" dirty="0" err="1"/>
              <a:t>Sunita</a:t>
            </a:r>
            <a:r>
              <a:rPr lang="en-US" sz="1400" b="1" dirty="0"/>
              <a:t> </a:t>
            </a:r>
            <a:r>
              <a:rPr lang="en-US" sz="1400" b="1" dirty="0" err="1"/>
              <a:t>Soni</a:t>
            </a:r>
            <a:r>
              <a:rPr lang="en-US" sz="1400" b="1" dirty="0"/>
              <a:t>. This research paper investigates the application of machine learning techniques such as Neural Networks, Support Vector Machines, and Decision Trees for predicting loan repayment.</a:t>
            </a:r>
          </a:p>
          <a:p>
            <a:pPr marL="0" indent="0">
              <a:buNone/>
            </a:pPr>
            <a:r>
              <a:rPr lang="en-US" sz="1400" b="1" dirty="0" smtClean="0"/>
              <a:t>4. "Machine </a:t>
            </a:r>
            <a:r>
              <a:rPr lang="en-US" sz="1400" b="1" dirty="0"/>
              <a:t>Learning Approaches for Credit Scoring: A Comparison of Traditional and Non-Traditional Models" by M. Haji </a:t>
            </a:r>
            <a:r>
              <a:rPr lang="en-US" sz="1400" b="1" dirty="0" err="1"/>
              <a:t>Mirsadeghi</a:t>
            </a:r>
            <a:r>
              <a:rPr lang="en-US" sz="1400" b="1" dirty="0"/>
              <a:t>, R. </a:t>
            </a:r>
            <a:r>
              <a:rPr lang="en-US" sz="1400" b="1" dirty="0" err="1"/>
              <a:t>Akbari</a:t>
            </a:r>
            <a:r>
              <a:rPr lang="en-US" sz="1400" b="1" dirty="0"/>
              <a:t>, and M. </a:t>
            </a:r>
            <a:r>
              <a:rPr lang="en-US" sz="1400" b="1" dirty="0" err="1"/>
              <a:t>Nazemi</a:t>
            </a:r>
            <a:r>
              <a:rPr lang="en-US" sz="1400" b="1" dirty="0"/>
              <a:t> </a:t>
            </a:r>
            <a:r>
              <a:rPr lang="en-US" sz="1400" b="1" dirty="0" err="1"/>
              <a:t>Ardakani</a:t>
            </a:r>
            <a:r>
              <a:rPr lang="en-US" sz="1400" b="1" dirty="0"/>
              <a:t>. This paper compares traditional credit scoring models with machine learning approaches for credit risk assessment, including loan price prediction.</a:t>
            </a:r>
          </a:p>
          <a:p>
            <a:pPr marL="0" indent="0">
              <a:buNone/>
            </a:pPr>
            <a:endParaRPr lang="en-US" sz="1400" b="1" dirty="0"/>
          </a:p>
        </p:txBody>
      </p:sp>
    </p:spTree>
    <p:extLst>
      <p:ext uri="{BB962C8B-B14F-4D97-AF65-F5344CB8AC3E}">
        <p14:creationId xmlns:p14="http://schemas.microsoft.com/office/powerpoint/2010/main" val="3678037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Elegant Swirling Rainbow Splash - Thank You - 3 | Zazzle | Custom thank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9555" y="2221906"/>
            <a:ext cx="6845181" cy="3572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40594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xmlns=""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1323</TotalTime>
  <Words>1020</Words>
  <Application>Microsoft Office PowerPoint</Application>
  <PresentationFormat>Custom</PresentationFormat>
  <Paragraphs>105</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Gallery</vt:lpstr>
      <vt:lpstr>         LOAN PRICE PREDICTION using machine learning </vt:lpstr>
      <vt:lpstr>5132 - Thirumalai Engineering College Kilambi, Kanchipuram. Department of Information Technology  Team member</vt:lpstr>
      <vt:lpstr>INTRODUCTION</vt:lpstr>
      <vt:lpstr>ABSTRACTION</vt:lpstr>
      <vt:lpstr>SCOPE</vt:lpstr>
      <vt:lpstr>DATA SET</vt:lpstr>
      <vt:lpstr>Existing System </vt:lpstr>
      <vt:lpstr>Proposed System </vt:lpstr>
      <vt:lpstr>System Requirements</vt:lpstr>
      <vt:lpstr>Architecture </vt:lpstr>
      <vt:lpstr>DATA FRAMES</vt:lpstr>
      <vt:lpstr>MODULES</vt:lpstr>
      <vt:lpstr>ALGORITHM</vt:lpstr>
      <vt:lpstr>PYTHON PACKAGES</vt:lpstr>
      <vt:lpstr>COMPARISON CLASSES</vt:lpstr>
      <vt:lpstr>APPLICATION INCOMES</vt:lpstr>
      <vt:lpstr>GENDER WISE FOR LOAN STATUS</vt:lpstr>
      <vt:lpstr>CNFUSION MATRIX</vt:lpstr>
      <vt:lpstr>CORRELATION MATRIX OR HEAT MAP</vt:lpstr>
      <vt:lpstr>ACCURACY</vt:lpstr>
      <vt:lpstr> Feature Enhancement</vt:lpstr>
      <vt:lpstr>Conclusion</vt:lpstr>
      <vt:lpstr>Reference</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Intelligence Garbage Classification using Artificial Intelligences</dc:title>
  <dc:creator>owner</dc:creator>
  <cp:lastModifiedBy>wer</cp:lastModifiedBy>
  <cp:revision>33</cp:revision>
  <dcterms:created xsi:type="dcterms:W3CDTF">2023-03-29T09:03:49Z</dcterms:created>
  <dcterms:modified xsi:type="dcterms:W3CDTF">2024-05-05T02:12:51Z</dcterms:modified>
</cp:coreProperties>
</file>